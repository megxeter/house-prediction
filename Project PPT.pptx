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A52"/>
                </a:solidFill>
                <a:latin typeface="Calibri"/>
              </a:defRPr>
            </a:pPr>
            <a:r>
              <a:rPr lang="en-IN" sz="1300" b="0" i="0" u="none" strike="noStrike">
                <a:solidFill>
                  <a:srgbClr val="132A52"/>
                </a:solidFill>
                <a:latin typeface="Calibri"/>
              </a:rPr>
              <a:t>R² Score by Model</a:t>
            </a:r>
          </a:p>
        </c:rich>
      </c:tx>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5B9BD5"/>
            </a:solidFill>
            <a:effectLst/>
          </c:spPr>
          <c:invertIfNegative val="0"/>
          <c:dPt>
            <c:idx val="0"/>
            <c:invertIfNegative val="0"/>
            <c:bubble3D val="0"/>
            <c:extLst>
              <c:ext xmlns:c16="http://schemas.microsoft.com/office/drawing/2014/chart" uri="{C3380CC4-5D6E-409C-BE32-E72D297353CC}">
                <c16:uniqueId val="{00000001-818C-486B-840F-F2833F5C4D8F}"/>
              </c:ext>
            </c:extLst>
          </c:dPt>
          <c:dPt>
            <c:idx val="1"/>
            <c:invertIfNegative val="0"/>
            <c:bubble3D val="0"/>
            <c:spPr>
              <a:solidFill>
                <a:srgbClr val="3F7CB8"/>
              </a:solidFill>
              <a:effectLst/>
            </c:spPr>
            <c:extLst>
              <c:ext xmlns:c16="http://schemas.microsoft.com/office/drawing/2014/chart" uri="{C3380CC4-5D6E-409C-BE32-E72D297353CC}">
                <c16:uniqueId val="{00000003-818C-486B-840F-F2833F5C4D8F}"/>
              </c:ext>
            </c:extLst>
          </c:dPt>
          <c:dPt>
            <c:idx val="2"/>
            <c:invertIfNegative val="0"/>
            <c:bubble3D val="0"/>
            <c:spPr>
              <a:solidFill>
                <a:srgbClr val="132A52"/>
              </a:solidFill>
              <a:effectLst/>
            </c:spPr>
            <c:extLst>
              <c:ext xmlns:c16="http://schemas.microsoft.com/office/drawing/2014/chart" uri="{C3380CC4-5D6E-409C-BE32-E72D297353CC}">
                <c16:uniqueId val="{00000005-818C-486B-840F-F2833F5C4D8F}"/>
              </c:ext>
            </c:extLst>
          </c:dPt>
          <c:dLbls>
            <c:numFmt formatCode="#,##0" sourceLinked="0"/>
            <c:spPr>
              <a:noFill/>
              <a:ln>
                <a:noFill/>
              </a:ln>
              <a:effectLst/>
            </c:spPr>
            <c:txPr>
              <a:bodyPr/>
              <a:lstStyle/>
              <a:p>
                <a:pPr>
                  <a:defRPr sz="1100" b="0" i="0" u="none" strike="noStrike">
                    <a:solidFill>
                      <a:srgbClr val="132A5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Random Forest</c:v>
                </c:pt>
                <c:pt idx="2">
                  <c:v>XGBoost</c:v>
                </c:pt>
              </c:strCache>
            </c:strRef>
          </c:cat>
          <c:val>
            <c:numRef>
              <c:f>Sheet1!$B$2:$B$4</c:f>
              <c:numCache>
                <c:formatCode>General</c:formatCode>
                <c:ptCount val="3"/>
                <c:pt idx="0">
                  <c:v>0.625</c:v>
                </c:pt>
                <c:pt idx="1">
                  <c:v>0.81699999999999995</c:v>
                </c:pt>
                <c:pt idx="2">
                  <c:v>0.82099999999999995</c:v>
                </c:pt>
              </c:numCache>
            </c:numRef>
          </c:val>
          <c:extLst>
            <c:ext xmlns:c16="http://schemas.microsoft.com/office/drawing/2014/chart" uri="{C3380CC4-5D6E-409C-BE32-E72D297353CC}">
              <c16:uniqueId val="{00000006-818C-486B-840F-F2833F5C4D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85"/>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278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everyday problem: pricing a house is subjective and error-prone when done manually. Emphasize that many correlated features make this a natural fit for machine learning, and that this has real commercial applications in real estate tech, banking, and urban planning.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objectives quickly — the core thread is: predict price, understand the data, build a proper pipeline, compare models fairly, and end up with something objective and usable.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California Housing Prices dataset — 20,640 records, one row per district block. Point out the target variable and that ocean_proximity is the only categorical feature, dominated by &lt;1H OCEAN and INLAND, with ISLAND being extremely rare (only 5 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eight-stage pipeline left to right, top row then bottom row: from raw data collection through cleaning, EDA, feature engineering, the train-test split, model training, evaluation, and finally generating a price prediction.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leakage-safe design: missing-value statistics are computed from the training split only, never from the full dataset, before being applied to both train and test. Mention the ColumnTransformer cleanly separates numeric and categorical handling.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shows median_income as by far the strongest predictor of price. The target histogram reveals a hard cap around $500,001 — a known artifact of this dataset where high-end values were top-coded, which slightly limits model accuracy at the top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were compared: Linear Regression as an interpretable baseline, Random Forest as a robust ensemble, and XGBoost as a gradient-boosted ensemble. All three share the same preprocessing pipeline so the comparison is fair. Metrics used: MAE, RMSE, and R²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ensemble methods dramatically outperform the linear baseline, jumping R² from 0.625 to over 0.81. XGBoost edges out Random Forest on R² and RMSE, while Random Forest actually has the lowest MAE — worth mentioning if asked which model is 'best' since it depends on the metric prioritized.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chart outputs generated directly inside the notebook, not mockups — useful to show the evaluator the actual working notebook if asked.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pipeline works end-to-end, tree-based ensembles clearly beat the linear baseline, and the project gave hands-on experience with the full applied ML workflow — not just model fitting but leakage-safe preprocessing and honest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realistic next steps — deployment, real-time data, tuning, and dashboards — then open the floor for questions. Keep this brief; the goal is to signal the project has a clear path beyond the internship.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7.png"/><Relationship Id="rId4" Type="http://schemas.openxmlformats.org/officeDocument/2006/relationships/image" Target="../media/image12.pn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7.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2700">
            <a:solidFill>
              <a:srgbClr val="5B9BD5">
                <a:alpha val="45000"/>
              </a:srgbClr>
            </a:solidFill>
            <a:prstDash val="solid"/>
          </a:ln>
        </p:spPr>
      </p:sp>
      <p:sp>
        <p:nvSpPr>
          <p:cNvPr id="3" name="Shape 1"/>
          <p:cNvSpPr/>
          <p:nvPr/>
        </p:nvSpPr>
        <p:spPr>
          <a:xfrm flipV="1">
            <a:off x="9966960" y="1371600"/>
            <a:ext cx="640080" cy="365760"/>
          </a:xfrm>
          <a:prstGeom prst="line">
            <a:avLst/>
          </a:prstGeom>
          <a:noFill/>
          <a:ln w="12700">
            <a:solidFill>
              <a:srgbClr val="5B9BD5">
                <a:alpha val="45000"/>
              </a:srgbClr>
            </a:solidFill>
            <a:prstDash val="solid"/>
          </a:ln>
        </p:spPr>
      </p:sp>
      <p:sp>
        <p:nvSpPr>
          <p:cNvPr id="4" name="Shape 2"/>
          <p:cNvSpPr/>
          <p:nvPr/>
        </p:nvSpPr>
        <p:spPr>
          <a:xfrm>
            <a:off x="9692640" y="822960"/>
            <a:ext cx="1463040" cy="91440"/>
          </a:xfrm>
          <a:prstGeom prst="line">
            <a:avLst/>
          </a:prstGeom>
          <a:noFill/>
          <a:ln w="12700">
            <a:solidFill>
              <a:srgbClr val="5B9BD5">
                <a:alpha val="45000"/>
              </a:srgbClr>
            </a:solidFill>
            <a:prstDash val="solid"/>
          </a:ln>
        </p:spPr>
      </p:sp>
      <p:sp>
        <p:nvSpPr>
          <p:cNvPr id="5" name="Shape 3"/>
          <p:cNvSpPr/>
          <p:nvPr/>
        </p:nvSpPr>
        <p:spPr>
          <a:xfrm flipV="1">
            <a:off x="10607040" y="914400"/>
            <a:ext cx="548640" cy="457200"/>
          </a:xfrm>
          <a:prstGeom prst="line">
            <a:avLst/>
          </a:prstGeom>
          <a:noFill/>
          <a:ln w="12700">
            <a:solidFill>
              <a:srgbClr val="5B9BD5">
                <a:alpha val="45000"/>
              </a:srgbClr>
            </a:solidFill>
            <a:prstDash val="solid"/>
          </a:ln>
        </p:spPr>
      </p:sp>
      <p:sp>
        <p:nvSpPr>
          <p:cNvPr id="6" name="Shape 4"/>
          <p:cNvSpPr/>
          <p:nvPr/>
        </p:nvSpPr>
        <p:spPr>
          <a:xfrm flipV="1">
            <a:off x="10424160" y="1371600"/>
            <a:ext cx="182880" cy="822960"/>
          </a:xfrm>
          <a:prstGeom prst="line">
            <a:avLst/>
          </a:prstGeom>
          <a:noFill/>
          <a:ln w="12700">
            <a:solidFill>
              <a:srgbClr val="5B9BD5">
                <a:alpha val="45000"/>
              </a:srgbClr>
            </a:solidFill>
            <a:prstDash val="solid"/>
          </a:ln>
        </p:spPr>
      </p:sp>
      <p:sp>
        <p:nvSpPr>
          <p:cNvPr id="7" name="Shape 5"/>
          <p:cNvSpPr/>
          <p:nvPr/>
        </p:nvSpPr>
        <p:spPr>
          <a:xfrm>
            <a:off x="11155680" y="914400"/>
            <a:ext cx="182880" cy="914400"/>
          </a:xfrm>
          <a:prstGeom prst="line">
            <a:avLst/>
          </a:prstGeom>
          <a:noFill/>
          <a:ln w="12700">
            <a:solidFill>
              <a:srgbClr val="5B9BD5">
                <a:alpha val="45000"/>
              </a:srgbClr>
            </a:solidFill>
            <a:prstDash val="solid"/>
          </a:ln>
        </p:spPr>
      </p:sp>
      <p:sp>
        <p:nvSpPr>
          <p:cNvPr id="8" name="Shape 6"/>
          <p:cNvSpPr/>
          <p:nvPr/>
        </p:nvSpPr>
        <p:spPr>
          <a:xfrm flipV="1">
            <a:off x="10424160" y="1828800"/>
            <a:ext cx="914400" cy="365760"/>
          </a:xfrm>
          <a:prstGeom prst="line">
            <a:avLst/>
          </a:prstGeom>
          <a:noFill/>
          <a:ln w="12700">
            <a:solidFill>
              <a:srgbClr val="5B9BD5">
                <a:alpha val="45000"/>
              </a:srgbClr>
            </a:solidFill>
            <a:prstDash val="solid"/>
          </a:ln>
        </p:spPr>
      </p:sp>
      <p:sp>
        <p:nvSpPr>
          <p:cNvPr id="9" name="Shape 7"/>
          <p:cNvSpPr/>
          <p:nvPr/>
        </p:nvSpPr>
        <p:spPr>
          <a:xfrm>
            <a:off x="9651492" y="781812"/>
            <a:ext cx="82296" cy="82296"/>
          </a:xfrm>
          <a:prstGeom prst="ellipse">
            <a:avLst/>
          </a:prstGeom>
          <a:solidFill>
            <a:srgbClr val="5B9BD5">
              <a:alpha val="75000"/>
            </a:srgbClr>
          </a:solidFill>
          <a:ln/>
        </p:spPr>
      </p:sp>
      <p:sp>
        <p:nvSpPr>
          <p:cNvPr id="10" name="Shape 8"/>
          <p:cNvSpPr/>
          <p:nvPr/>
        </p:nvSpPr>
        <p:spPr>
          <a:xfrm>
            <a:off x="10565892" y="1330452"/>
            <a:ext cx="82296" cy="82296"/>
          </a:xfrm>
          <a:prstGeom prst="ellipse">
            <a:avLst/>
          </a:prstGeom>
          <a:solidFill>
            <a:srgbClr val="5B9BD5">
              <a:alpha val="75000"/>
            </a:srgbClr>
          </a:solidFill>
          <a:ln/>
        </p:spPr>
      </p:sp>
      <p:sp>
        <p:nvSpPr>
          <p:cNvPr id="11" name="Shape 9"/>
          <p:cNvSpPr/>
          <p:nvPr/>
        </p:nvSpPr>
        <p:spPr>
          <a:xfrm>
            <a:off x="9925812" y="1696212"/>
            <a:ext cx="82296" cy="82296"/>
          </a:xfrm>
          <a:prstGeom prst="ellipse">
            <a:avLst/>
          </a:prstGeom>
          <a:solidFill>
            <a:srgbClr val="5B9BD5">
              <a:alpha val="75000"/>
            </a:srgbClr>
          </a:solidFill>
          <a:ln/>
        </p:spPr>
      </p:sp>
      <p:sp>
        <p:nvSpPr>
          <p:cNvPr id="12" name="Shape 10"/>
          <p:cNvSpPr/>
          <p:nvPr/>
        </p:nvSpPr>
        <p:spPr>
          <a:xfrm>
            <a:off x="11114532" y="873252"/>
            <a:ext cx="82296" cy="82296"/>
          </a:xfrm>
          <a:prstGeom prst="ellipse">
            <a:avLst/>
          </a:prstGeom>
          <a:solidFill>
            <a:srgbClr val="5B9BD5">
              <a:alpha val="75000"/>
            </a:srgbClr>
          </a:solidFill>
          <a:ln/>
        </p:spPr>
      </p:sp>
      <p:sp>
        <p:nvSpPr>
          <p:cNvPr id="13" name="Shape 11"/>
          <p:cNvSpPr/>
          <p:nvPr/>
        </p:nvSpPr>
        <p:spPr>
          <a:xfrm>
            <a:off x="10383012" y="2153412"/>
            <a:ext cx="82296" cy="82296"/>
          </a:xfrm>
          <a:prstGeom prst="ellipse">
            <a:avLst/>
          </a:prstGeom>
          <a:solidFill>
            <a:srgbClr val="5B9BD5">
              <a:alpha val="75000"/>
            </a:srgbClr>
          </a:solidFill>
          <a:ln/>
        </p:spPr>
      </p:sp>
      <p:sp>
        <p:nvSpPr>
          <p:cNvPr id="14" name="Shape 12"/>
          <p:cNvSpPr/>
          <p:nvPr/>
        </p:nvSpPr>
        <p:spPr>
          <a:xfrm>
            <a:off x="11297412" y="1787652"/>
            <a:ext cx="82296" cy="82296"/>
          </a:xfrm>
          <a:prstGeom prst="ellipse">
            <a:avLst/>
          </a:prstGeom>
          <a:solidFill>
            <a:srgbClr val="5B9BD5">
              <a:alpha val="75000"/>
            </a:srgbClr>
          </a:solidFill>
          <a:ln/>
        </p:spPr>
      </p:sp>
      <p:sp>
        <p:nvSpPr>
          <p:cNvPr id="15" name="Shape 13"/>
          <p:cNvSpPr/>
          <p:nvPr/>
        </p:nvSpPr>
        <p:spPr>
          <a:xfrm>
            <a:off x="0" y="5943600"/>
            <a:ext cx="822960" cy="914400"/>
          </a:xfrm>
          <a:prstGeom prst="rect">
            <a:avLst/>
          </a:prstGeom>
          <a:solidFill>
            <a:srgbClr val="5B9BD5">
              <a:alpha val="12000"/>
            </a:srgbClr>
          </a:solidFill>
          <a:ln/>
        </p:spPr>
      </p:sp>
      <p:sp>
        <p:nvSpPr>
          <p:cNvPr id="16" name="Shape 14"/>
          <p:cNvSpPr/>
          <p:nvPr/>
        </p:nvSpPr>
        <p:spPr>
          <a:xfrm>
            <a:off x="777240" y="5486400"/>
            <a:ext cx="548640" cy="1371600"/>
          </a:xfrm>
          <a:prstGeom prst="rect">
            <a:avLst/>
          </a:prstGeom>
          <a:solidFill>
            <a:srgbClr val="5B9BD5">
              <a:alpha val="12000"/>
            </a:srgbClr>
          </a:solidFill>
          <a:ln/>
        </p:spPr>
      </p:sp>
      <p:sp>
        <p:nvSpPr>
          <p:cNvPr id="17" name="Shape 15"/>
          <p:cNvSpPr/>
          <p:nvPr/>
        </p:nvSpPr>
        <p:spPr>
          <a:xfrm>
            <a:off x="1280160" y="6126480"/>
            <a:ext cx="914400" cy="731520"/>
          </a:xfrm>
          <a:prstGeom prst="rect">
            <a:avLst/>
          </a:prstGeom>
          <a:solidFill>
            <a:srgbClr val="5B9BD5">
              <a:alpha val="12000"/>
            </a:srgbClr>
          </a:solidFill>
          <a:ln/>
        </p:spPr>
      </p:sp>
      <p:sp>
        <p:nvSpPr>
          <p:cNvPr id="18" name="Shape 16"/>
          <p:cNvSpPr/>
          <p:nvPr/>
        </p:nvSpPr>
        <p:spPr>
          <a:xfrm>
            <a:off x="2148840" y="5303520"/>
            <a:ext cx="640080" cy="1554480"/>
          </a:xfrm>
          <a:prstGeom prst="rect">
            <a:avLst/>
          </a:prstGeom>
          <a:solidFill>
            <a:srgbClr val="5B9BD5">
              <a:alpha val="12000"/>
            </a:srgbClr>
          </a:solidFill>
          <a:ln/>
        </p:spPr>
      </p:sp>
      <p:sp>
        <p:nvSpPr>
          <p:cNvPr id="19" name="Shape 17"/>
          <p:cNvSpPr/>
          <p:nvPr/>
        </p:nvSpPr>
        <p:spPr>
          <a:xfrm>
            <a:off x="2743200" y="5852160"/>
            <a:ext cx="822960" cy="1005840"/>
          </a:xfrm>
          <a:prstGeom prst="rect">
            <a:avLst/>
          </a:prstGeom>
          <a:solidFill>
            <a:srgbClr val="5B9BD5">
              <a:alpha val="12000"/>
            </a:srgbClr>
          </a:solidFill>
          <a:ln/>
        </p:spPr>
      </p:sp>
      <p:sp>
        <p:nvSpPr>
          <p:cNvPr id="20" name="Shape 18"/>
          <p:cNvSpPr/>
          <p:nvPr/>
        </p:nvSpPr>
        <p:spPr>
          <a:xfrm>
            <a:off x="3520440" y="5577840"/>
            <a:ext cx="548640" cy="1280160"/>
          </a:xfrm>
          <a:prstGeom prst="rect">
            <a:avLst/>
          </a:prstGeom>
          <a:solidFill>
            <a:srgbClr val="5B9BD5">
              <a:alpha val="12000"/>
            </a:srgbClr>
          </a:solidFill>
          <a:ln/>
        </p:spPr>
      </p:sp>
      <p:sp>
        <p:nvSpPr>
          <p:cNvPr id="21" name="Text 19"/>
          <p:cNvSpPr/>
          <p:nvPr/>
        </p:nvSpPr>
        <p:spPr>
          <a:xfrm>
            <a:off x="822960" y="1417320"/>
            <a:ext cx="7315200" cy="320040"/>
          </a:xfrm>
          <a:prstGeom prst="rect">
            <a:avLst/>
          </a:prstGeom>
          <a:noFill/>
          <a:ln/>
        </p:spPr>
        <p:txBody>
          <a:bodyPr wrap="square" lIns="0" tIns="0" rIns="0" bIns="0" rtlCol="0" anchor="ctr"/>
          <a:lstStyle/>
          <a:p>
            <a:pPr marL="0" indent="0">
              <a:buNone/>
            </a:pPr>
            <a:r>
              <a:rPr lang="en-US" sz="1400" b="1" kern="0" spc="300" dirty="0">
                <a:solidFill>
                  <a:srgbClr val="AFD0EF"/>
                </a:solidFill>
                <a:latin typeface="Calibri" pitchFamily="34" charset="0"/>
                <a:ea typeface="Calibri" pitchFamily="34" charset="-122"/>
                <a:cs typeface="Calibri" pitchFamily="34" charset="-120"/>
              </a:rPr>
              <a:t>SUMMER INTERNSHIP PROJECT</a:t>
            </a:r>
            <a:endParaRPr lang="en-US" sz="1400" dirty="0"/>
          </a:p>
        </p:txBody>
      </p:sp>
      <p:sp>
        <p:nvSpPr>
          <p:cNvPr id="22" name="Text 20"/>
          <p:cNvSpPr/>
          <p:nvPr/>
        </p:nvSpPr>
        <p:spPr>
          <a:xfrm>
            <a:off x="777240" y="1783080"/>
            <a:ext cx="9875520" cy="13716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House Price Prediction System</a:t>
            </a:r>
            <a:endParaRPr lang="en-US" sz="4400" dirty="0"/>
          </a:p>
        </p:txBody>
      </p:sp>
      <p:sp>
        <p:nvSpPr>
          <p:cNvPr id="23" name="Text 21"/>
          <p:cNvSpPr/>
          <p:nvPr/>
        </p:nvSpPr>
        <p:spPr>
          <a:xfrm>
            <a:off x="822960" y="2788920"/>
            <a:ext cx="8686800" cy="457200"/>
          </a:xfrm>
          <a:prstGeom prst="rect">
            <a:avLst/>
          </a:prstGeom>
          <a:noFill/>
          <a:ln/>
        </p:spPr>
        <p:txBody>
          <a:bodyPr wrap="square" lIns="0" tIns="0" rIns="0" bIns="0" rtlCol="0" anchor="ctr"/>
          <a:lstStyle/>
          <a:p>
            <a:pPr marL="0" indent="0">
              <a:buNone/>
            </a:pPr>
            <a:r>
              <a:rPr lang="en-US" sz="1600" i="1" dirty="0">
                <a:solidFill>
                  <a:srgbClr val="AFD0EF"/>
                </a:solidFill>
                <a:latin typeface="Calibri" pitchFamily="34" charset="0"/>
                <a:ea typeface="Calibri" pitchFamily="34" charset="-122"/>
                <a:cs typeface="Calibri" pitchFamily="34" charset="-120"/>
              </a:rPr>
              <a:t>A Machine Learning Approach to Estimating Real Estate Value</a:t>
            </a:r>
            <a:endParaRPr lang="en-US" sz="1600" dirty="0"/>
          </a:p>
        </p:txBody>
      </p:sp>
      <p:sp>
        <p:nvSpPr>
          <p:cNvPr id="24" name="Text 22"/>
          <p:cNvSpPr/>
          <p:nvPr/>
        </p:nvSpPr>
        <p:spPr>
          <a:xfrm>
            <a:off x="822960" y="3520440"/>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TEAM LEADER</a:t>
            </a:r>
            <a:endParaRPr lang="en-US" sz="950" dirty="0"/>
          </a:p>
        </p:txBody>
      </p:sp>
      <p:sp>
        <p:nvSpPr>
          <p:cNvPr id="25" name="Text 23"/>
          <p:cNvSpPr/>
          <p:nvPr/>
        </p:nvSpPr>
        <p:spPr>
          <a:xfrm>
            <a:off x="822960" y="3730752"/>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Uplakshya Tiwari</a:t>
            </a:r>
            <a:endParaRPr lang="en-US" sz="1300" dirty="0"/>
          </a:p>
        </p:txBody>
      </p:sp>
      <p:sp>
        <p:nvSpPr>
          <p:cNvPr id="26" name="Text 24"/>
          <p:cNvSpPr/>
          <p:nvPr/>
        </p:nvSpPr>
        <p:spPr>
          <a:xfrm>
            <a:off x="822960" y="4105656"/>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TEAM MEMBERS</a:t>
            </a:r>
            <a:endParaRPr lang="en-US" sz="950" dirty="0"/>
          </a:p>
        </p:txBody>
      </p:sp>
      <p:sp>
        <p:nvSpPr>
          <p:cNvPr id="27" name="Text 25"/>
          <p:cNvSpPr/>
          <p:nvPr/>
        </p:nvSpPr>
        <p:spPr>
          <a:xfrm>
            <a:off x="822960" y="4315968"/>
            <a:ext cx="5074920" cy="548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Ujjval Dubey</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Tejas Pandey</a:t>
            </a:r>
            <a:endParaRPr lang="en-US" sz="1300" dirty="0"/>
          </a:p>
        </p:txBody>
      </p:sp>
      <p:sp>
        <p:nvSpPr>
          <p:cNvPr id="28" name="Text 26"/>
          <p:cNvSpPr/>
          <p:nvPr/>
        </p:nvSpPr>
        <p:spPr>
          <a:xfrm>
            <a:off x="822960" y="4782312"/>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DEPARTMENT</a:t>
            </a:r>
            <a:endParaRPr lang="en-US" sz="950" dirty="0"/>
          </a:p>
        </p:txBody>
      </p:sp>
      <p:sp>
        <p:nvSpPr>
          <p:cNvPr id="29" name="Text 27"/>
          <p:cNvSpPr/>
          <p:nvPr/>
        </p:nvSpPr>
        <p:spPr>
          <a:xfrm>
            <a:off x="822960" y="4992624"/>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Computer Science &amp; Engineering</a:t>
            </a:r>
            <a:endParaRPr lang="en-US" sz="1300" dirty="0"/>
          </a:p>
        </p:txBody>
      </p:sp>
      <p:sp>
        <p:nvSpPr>
          <p:cNvPr id="30" name="Text 28"/>
          <p:cNvSpPr/>
          <p:nvPr/>
        </p:nvSpPr>
        <p:spPr>
          <a:xfrm>
            <a:off x="822960" y="5367528"/>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GUIDE / MENTOR</a:t>
            </a:r>
            <a:endParaRPr lang="en-US" sz="950" dirty="0"/>
          </a:p>
        </p:txBody>
      </p:sp>
      <p:sp>
        <p:nvSpPr>
          <p:cNvPr id="31" name="Text 29"/>
          <p:cNvSpPr/>
          <p:nvPr/>
        </p:nvSpPr>
        <p:spPr>
          <a:xfrm>
            <a:off x="822960" y="5577840"/>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Mr. Arpit Dubey</a:t>
            </a:r>
            <a:endParaRPr lang="en-US" sz="1300" dirty="0"/>
          </a:p>
        </p:txBody>
      </p:sp>
      <p:sp>
        <p:nvSpPr>
          <p:cNvPr id="32" name="Text 30"/>
          <p:cNvSpPr/>
          <p:nvPr/>
        </p:nvSpPr>
        <p:spPr>
          <a:xfrm>
            <a:off x="6263640" y="3520440"/>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COLLEGE</a:t>
            </a:r>
            <a:endParaRPr lang="en-US" sz="950" dirty="0"/>
          </a:p>
        </p:txBody>
      </p:sp>
      <p:sp>
        <p:nvSpPr>
          <p:cNvPr id="33" name="Text 31"/>
          <p:cNvSpPr/>
          <p:nvPr/>
        </p:nvSpPr>
        <p:spPr>
          <a:xfrm>
            <a:off x="6263640" y="3730752"/>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United College of Engineering and Research</a:t>
            </a:r>
            <a:endParaRPr lang="en-US" sz="1300" dirty="0"/>
          </a:p>
        </p:txBody>
      </p:sp>
      <p:sp>
        <p:nvSpPr>
          <p:cNvPr id="34" name="Text 32"/>
          <p:cNvSpPr/>
          <p:nvPr/>
        </p:nvSpPr>
        <p:spPr>
          <a:xfrm>
            <a:off x="6263640" y="4105656"/>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INTERNSHIP ORGANIZATION</a:t>
            </a:r>
            <a:endParaRPr lang="en-US" sz="950" dirty="0"/>
          </a:p>
        </p:txBody>
      </p:sp>
      <p:sp>
        <p:nvSpPr>
          <p:cNvPr id="35" name="Text 33"/>
          <p:cNvSpPr/>
          <p:nvPr/>
        </p:nvSpPr>
        <p:spPr>
          <a:xfrm>
            <a:off x="6263640" y="4315968"/>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Innovation &amp; Incubation Hub, MNNIT Foundation</a:t>
            </a:r>
            <a:endParaRPr lang="en-US" sz="1300" dirty="0"/>
          </a:p>
        </p:txBody>
      </p:sp>
      <p:sp>
        <p:nvSpPr>
          <p:cNvPr id="36" name="Text 34"/>
          <p:cNvSpPr/>
          <p:nvPr/>
        </p:nvSpPr>
        <p:spPr>
          <a:xfrm>
            <a:off x="6263640" y="4690872"/>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ACADEMIC YEAR</a:t>
            </a:r>
            <a:endParaRPr lang="en-US" sz="950" dirty="0"/>
          </a:p>
        </p:txBody>
      </p:sp>
      <p:sp>
        <p:nvSpPr>
          <p:cNvPr id="37" name="Text 35"/>
          <p:cNvSpPr/>
          <p:nvPr/>
        </p:nvSpPr>
        <p:spPr>
          <a:xfrm>
            <a:off x="6263640" y="4901184"/>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2026</a:t>
            </a:r>
            <a:endParaRPr lang="en-US" sz="1300" dirty="0"/>
          </a:p>
        </p:txBody>
      </p:sp>
      <p:sp>
        <p:nvSpPr>
          <p:cNvPr id="38" name="Shape 36"/>
          <p:cNvSpPr/>
          <p:nvPr/>
        </p:nvSpPr>
        <p:spPr>
          <a:xfrm>
            <a:off x="11503152" y="6172200"/>
            <a:ext cx="384048" cy="384048"/>
          </a:xfrm>
          <a:prstGeom prst="ellipse">
            <a:avLst/>
          </a:prstGeom>
          <a:solidFill>
            <a:srgbClr val="FFFFFF">
              <a:alpha val="15000"/>
            </a:srgbClr>
          </a:solidFill>
          <a:ln/>
        </p:spPr>
      </p:sp>
      <p:sp>
        <p:nvSpPr>
          <p:cNvPr id="39" name="Text 37"/>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THE CHALLENGE</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600200"/>
            <a:ext cx="475488" cy="475488"/>
          </a:xfrm>
          <a:prstGeom prst="ellipse">
            <a:avLst/>
          </a:prstGeom>
          <a:solidFill>
            <a:srgbClr val="EAF1FB"/>
          </a:solidFill>
          <a:ln/>
        </p:spPr>
      </p:sp>
      <p:pic>
        <p:nvPicPr>
          <p:cNvPr id="5" name="Image 0" descr="/home/claude/ppt/icons/exclaim_navy.png"/>
          <p:cNvPicPr>
            <a:picLocks noChangeAspect="1"/>
          </p:cNvPicPr>
          <p:nvPr/>
        </p:nvPicPr>
        <p:blipFill>
          <a:blip r:embed="rId3"/>
          <a:stretch>
            <a:fillRect/>
          </a:stretch>
        </p:blipFill>
        <p:spPr>
          <a:xfrm>
            <a:off x="662757" y="1714317"/>
            <a:ext cx="247254" cy="247254"/>
          </a:xfrm>
          <a:prstGeom prst="rect">
            <a:avLst/>
          </a:prstGeom>
        </p:spPr>
      </p:pic>
      <p:sp>
        <p:nvSpPr>
          <p:cNvPr id="6" name="Text 3"/>
          <p:cNvSpPr/>
          <p:nvPr/>
        </p:nvSpPr>
        <p:spPr>
          <a:xfrm>
            <a:off x="1234440" y="158191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Estimating a fair house price manually is difficult</a:t>
            </a:r>
            <a:endParaRPr lang="en-US" sz="1450" dirty="0"/>
          </a:p>
        </p:txBody>
      </p:sp>
      <p:sp>
        <p:nvSpPr>
          <p:cNvPr id="7" name="Text 4"/>
          <p:cNvSpPr/>
          <p:nvPr/>
        </p:nvSpPr>
        <p:spPr>
          <a:xfrm>
            <a:off x="1234440" y="187452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Buyers, sellers, and agents often rely on guesswork or limited comparables, leading to inconsistent valuations.</a:t>
            </a:r>
            <a:endParaRPr lang="en-US" sz="1150" dirty="0"/>
          </a:p>
        </p:txBody>
      </p:sp>
      <p:sp>
        <p:nvSpPr>
          <p:cNvPr id="8" name="Shape 5"/>
          <p:cNvSpPr/>
          <p:nvPr/>
        </p:nvSpPr>
        <p:spPr>
          <a:xfrm>
            <a:off x="548640" y="2651760"/>
            <a:ext cx="475488" cy="475488"/>
          </a:xfrm>
          <a:prstGeom prst="ellipse">
            <a:avLst/>
          </a:prstGeom>
          <a:solidFill>
            <a:srgbClr val="EAF1FB"/>
          </a:solidFill>
          <a:ln/>
        </p:spPr>
      </p:sp>
      <p:pic>
        <p:nvPicPr>
          <p:cNvPr id="9" name="Image 1" descr="/home/claude/ppt/icons/balance_navy.png"/>
          <p:cNvPicPr>
            <a:picLocks noChangeAspect="1"/>
          </p:cNvPicPr>
          <p:nvPr/>
        </p:nvPicPr>
        <p:blipFill>
          <a:blip r:embed="rId4"/>
          <a:stretch>
            <a:fillRect/>
          </a:stretch>
        </p:blipFill>
        <p:spPr>
          <a:xfrm>
            <a:off x="662757" y="2765877"/>
            <a:ext cx="247254" cy="247254"/>
          </a:xfrm>
          <a:prstGeom prst="rect">
            <a:avLst/>
          </a:prstGeom>
        </p:spPr>
      </p:pic>
      <p:sp>
        <p:nvSpPr>
          <p:cNvPr id="10" name="Text 6"/>
          <p:cNvSpPr/>
          <p:nvPr/>
        </p:nvSpPr>
        <p:spPr>
          <a:xfrm>
            <a:off x="1234440" y="263347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Too many interacting factors</a:t>
            </a:r>
            <a:endParaRPr lang="en-US" sz="1450" dirty="0"/>
          </a:p>
        </p:txBody>
      </p:sp>
      <p:sp>
        <p:nvSpPr>
          <p:cNvPr id="11" name="Text 7"/>
          <p:cNvSpPr/>
          <p:nvPr/>
        </p:nvSpPr>
        <p:spPr>
          <a:xfrm>
            <a:off x="1234440" y="292608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Location, size, age, amenities, and furnishing status all influence price simultaneously — hard for a human to weigh objectively.</a:t>
            </a:r>
            <a:endParaRPr lang="en-US" sz="1150" dirty="0"/>
          </a:p>
        </p:txBody>
      </p:sp>
      <p:sp>
        <p:nvSpPr>
          <p:cNvPr id="12" name="Shape 8"/>
          <p:cNvSpPr/>
          <p:nvPr/>
        </p:nvSpPr>
        <p:spPr>
          <a:xfrm>
            <a:off x="548640" y="3703320"/>
            <a:ext cx="475488" cy="475488"/>
          </a:xfrm>
          <a:prstGeom prst="ellipse">
            <a:avLst/>
          </a:prstGeom>
          <a:solidFill>
            <a:srgbClr val="EAF1FB"/>
          </a:solidFill>
          <a:ln/>
        </p:spPr>
      </p:sp>
      <p:pic>
        <p:nvPicPr>
          <p:cNvPr id="13" name="Image 2" descr="/home/claude/ppt/icons/brain_navy.png"/>
          <p:cNvPicPr>
            <a:picLocks noChangeAspect="1"/>
          </p:cNvPicPr>
          <p:nvPr/>
        </p:nvPicPr>
        <p:blipFill>
          <a:blip r:embed="rId5"/>
          <a:stretch>
            <a:fillRect/>
          </a:stretch>
        </p:blipFill>
        <p:spPr>
          <a:xfrm>
            <a:off x="662757" y="3817437"/>
            <a:ext cx="247254" cy="247254"/>
          </a:xfrm>
          <a:prstGeom prst="rect">
            <a:avLst/>
          </a:prstGeom>
        </p:spPr>
      </p:pic>
      <p:sp>
        <p:nvSpPr>
          <p:cNvPr id="14" name="Text 9"/>
          <p:cNvSpPr/>
          <p:nvPr/>
        </p:nvSpPr>
        <p:spPr>
          <a:xfrm>
            <a:off x="1234440" y="368503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Machine learning finds the patterns</a:t>
            </a:r>
            <a:endParaRPr lang="en-US" sz="1450" dirty="0"/>
          </a:p>
        </p:txBody>
      </p:sp>
      <p:sp>
        <p:nvSpPr>
          <p:cNvPr id="15" name="Text 10"/>
          <p:cNvSpPr/>
          <p:nvPr/>
        </p:nvSpPr>
        <p:spPr>
          <a:xfrm>
            <a:off x="1234440" y="397764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A model trained on historical housing data can learn these relationships and generate consistent, data-driven estimates.</a:t>
            </a:r>
            <a:endParaRPr lang="en-US" sz="1150" dirty="0"/>
          </a:p>
        </p:txBody>
      </p:sp>
      <p:sp>
        <p:nvSpPr>
          <p:cNvPr id="16" name="Shape 11"/>
          <p:cNvSpPr/>
          <p:nvPr/>
        </p:nvSpPr>
        <p:spPr>
          <a:xfrm>
            <a:off x="548640" y="4754880"/>
            <a:ext cx="475488" cy="475488"/>
          </a:xfrm>
          <a:prstGeom prst="ellipse">
            <a:avLst/>
          </a:prstGeom>
          <a:solidFill>
            <a:srgbClr val="EAF1FB"/>
          </a:solidFill>
          <a:ln/>
        </p:spPr>
      </p:sp>
      <p:pic>
        <p:nvPicPr>
          <p:cNvPr id="17" name="Image 3" descr="/home/claude/ppt/icons/globe_navy.png"/>
          <p:cNvPicPr>
            <a:picLocks noChangeAspect="1"/>
          </p:cNvPicPr>
          <p:nvPr/>
        </p:nvPicPr>
        <p:blipFill>
          <a:blip r:embed="rId6"/>
          <a:stretch>
            <a:fillRect/>
          </a:stretch>
        </p:blipFill>
        <p:spPr>
          <a:xfrm>
            <a:off x="662757" y="4868997"/>
            <a:ext cx="247254" cy="247254"/>
          </a:xfrm>
          <a:prstGeom prst="rect">
            <a:avLst/>
          </a:prstGeom>
        </p:spPr>
      </p:pic>
      <p:sp>
        <p:nvSpPr>
          <p:cNvPr id="18" name="Text 12"/>
          <p:cNvSpPr/>
          <p:nvPr/>
        </p:nvSpPr>
        <p:spPr>
          <a:xfrm>
            <a:off x="1234440" y="473659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Real-world relevance</a:t>
            </a:r>
            <a:endParaRPr lang="en-US" sz="1450" dirty="0"/>
          </a:p>
        </p:txBody>
      </p:sp>
      <p:sp>
        <p:nvSpPr>
          <p:cNvPr id="19" name="Text 13"/>
          <p:cNvSpPr/>
          <p:nvPr/>
        </p:nvSpPr>
        <p:spPr>
          <a:xfrm>
            <a:off x="1234440" y="502920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Used by real-estate platforms, banks for mortgage risk, investors, and urban planners to make faster, informed decisions.</a:t>
            </a:r>
            <a:endParaRPr lang="en-US" sz="1150" dirty="0"/>
          </a:p>
        </p:txBody>
      </p:sp>
      <p:sp>
        <p:nvSpPr>
          <p:cNvPr id="20" name="Shape 14"/>
          <p:cNvSpPr/>
          <p:nvPr/>
        </p:nvSpPr>
        <p:spPr>
          <a:xfrm>
            <a:off x="8549640" y="1600200"/>
            <a:ext cx="3063240" cy="4206240"/>
          </a:xfrm>
          <a:prstGeom prst="roundRect">
            <a:avLst>
              <a:gd name="adj" fmla="val 3582"/>
            </a:avLst>
          </a:prstGeom>
          <a:solidFill>
            <a:srgbClr val="132A52"/>
          </a:solidFill>
          <a:ln/>
          <a:effectLst>
            <a:outerShdw blurRad="101600" dist="38100" dir="2700000" algn="bl" rotWithShape="0">
              <a:srgbClr val="0C1D3D">
                <a:alpha val="12000"/>
              </a:srgbClr>
            </a:outerShdw>
          </a:effectLst>
        </p:spPr>
      </p:sp>
      <p:sp>
        <p:nvSpPr>
          <p:cNvPr id="21" name="Shape 15"/>
          <p:cNvSpPr/>
          <p:nvPr/>
        </p:nvSpPr>
        <p:spPr>
          <a:xfrm>
            <a:off x="9646920" y="2331720"/>
            <a:ext cx="914400" cy="914400"/>
          </a:xfrm>
          <a:prstGeom prst="ellipse">
            <a:avLst/>
          </a:prstGeom>
          <a:solidFill>
            <a:srgbClr val="1E3A6B"/>
          </a:solidFill>
          <a:ln/>
        </p:spPr>
      </p:sp>
      <p:pic>
        <p:nvPicPr>
          <p:cNvPr id="22" name="Image 4" descr="/home/claude/ppt/icons/home_white.png"/>
          <p:cNvPicPr>
            <a:picLocks noChangeAspect="1"/>
          </p:cNvPicPr>
          <p:nvPr/>
        </p:nvPicPr>
        <p:blipFill>
          <a:blip r:embed="rId7"/>
          <a:stretch>
            <a:fillRect/>
          </a:stretch>
        </p:blipFill>
        <p:spPr>
          <a:xfrm>
            <a:off x="9829800" y="2514600"/>
            <a:ext cx="548640" cy="548640"/>
          </a:xfrm>
          <a:prstGeom prst="rect">
            <a:avLst/>
          </a:prstGeom>
        </p:spPr>
      </p:pic>
      <p:sp>
        <p:nvSpPr>
          <p:cNvPr id="23" name="Text 16"/>
          <p:cNvSpPr/>
          <p:nvPr/>
        </p:nvSpPr>
        <p:spPr>
          <a:xfrm>
            <a:off x="8549640" y="3429000"/>
            <a:ext cx="3063240" cy="822960"/>
          </a:xfrm>
          <a:prstGeom prst="rect">
            <a:avLst/>
          </a:prstGeom>
          <a:noFill/>
          <a:ln/>
        </p:spPr>
        <p:txBody>
          <a:bodyPr wrap="square" lIns="0" tIns="0" rIns="0" bIns="0" rtlCol="0" anchor="ctr"/>
          <a:lstStyle/>
          <a:p>
            <a:pPr marL="0" indent="0" algn="ctr">
              <a:buNone/>
            </a:pPr>
            <a:r>
              <a:rPr lang="en-US" sz="4600" b="1" dirty="0">
                <a:solidFill>
                  <a:srgbClr val="5B9BD5"/>
                </a:solidFill>
                <a:latin typeface="Cambria" pitchFamily="34" charset="0"/>
                <a:ea typeface="Cambria" pitchFamily="34" charset="-122"/>
                <a:cs typeface="Cambria" pitchFamily="34" charset="-120"/>
              </a:rPr>
              <a:t>?</a:t>
            </a:r>
            <a:endParaRPr lang="en-US" sz="4600" dirty="0"/>
          </a:p>
        </p:txBody>
      </p:sp>
      <p:sp>
        <p:nvSpPr>
          <p:cNvPr id="24" name="Text 17"/>
          <p:cNvSpPr/>
          <p:nvPr/>
        </p:nvSpPr>
        <p:spPr>
          <a:xfrm>
            <a:off x="8823960" y="4343400"/>
            <a:ext cx="2514600" cy="8229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What is this</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house really worth?</a:t>
            </a:r>
            <a:endParaRPr lang="en-US" sz="1300" dirty="0"/>
          </a:p>
        </p:txBody>
      </p:sp>
      <p:sp>
        <p:nvSpPr>
          <p:cNvPr id="25" name="Text 18"/>
          <p:cNvSpPr/>
          <p:nvPr/>
        </p:nvSpPr>
        <p:spPr>
          <a:xfrm>
            <a:off x="8823960" y="5166360"/>
            <a:ext cx="2514600" cy="548640"/>
          </a:xfrm>
          <a:prstGeom prst="rect">
            <a:avLst/>
          </a:prstGeom>
          <a:noFill/>
          <a:ln/>
        </p:spPr>
        <p:txBody>
          <a:bodyPr wrap="square" lIns="0" tIns="0" rIns="0" bIns="0" rtlCol="0" anchor="ctr"/>
          <a:lstStyle/>
          <a:p>
            <a:pPr marL="0" indent="0" algn="ctr">
              <a:buNone/>
            </a:pPr>
            <a:r>
              <a:rPr lang="en-US" sz="1050" i="1" dirty="0">
                <a:solidFill>
                  <a:srgbClr val="AFD0EF"/>
                </a:solidFill>
                <a:latin typeface="Calibri" pitchFamily="34" charset="0"/>
                <a:ea typeface="Calibri" pitchFamily="34" charset="-122"/>
                <a:cs typeface="Calibri" pitchFamily="34" charset="-120"/>
              </a:rPr>
              <a:t>Manual estimation vs.</a:t>
            </a:r>
            <a:endParaRPr lang="en-US" sz="1050" dirty="0"/>
          </a:p>
          <a:p>
            <a:pPr marL="0" indent="0" algn="ctr">
              <a:buNone/>
            </a:pPr>
            <a:r>
              <a:rPr lang="en-US" sz="1050" i="1" dirty="0">
                <a:solidFill>
                  <a:srgbClr val="AFD0EF"/>
                </a:solidFill>
                <a:latin typeface="Calibri" pitchFamily="34" charset="0"/>
                <a:ea typeface="Calibri" pitchFamily="34" charset="-122"/>
                <a:cs typeface="Calibri" pitchFamily="34" charset="-120"/>
              </a:rPr>
              <a:t>data-driven prediction</a:t>
            </a:r>
            <a:endParaRPr lang="en-US" sz="1050" dirty="0"/>
          </a:p>
        </p:txBody>
      </p:sp>
      <p:sp>
        <p:nvSpPr>
          <p:cNvPr id="26" name="Text 19"/>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27" name="Shape 20"/>
          <p:cNvSpPr/>
          <p:nvPr/>
        </p:nvSpPr>
        <p:spPr>
          <a:xfrm>
            <a:off x="11503152" y="6172200"/>
            <a:ext cx="384048" cy="384048"/>
          </a:xfrm>
          <a:prstGeom prst="ellipse">
            <a:avLst/>
          </a:prstGeom>
          <a:solidFill>
            <a:srgbClr val="132A52"/>
          </a:solidFill>
          <a:ln/>
        </p:spPr>
      </p:sp>
      <p:sp>
        <p:nvSpPr>
          <p:cNvPr id="28" name="Text 21"/>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GOALS</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0020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sp>
      <p:sp>
        <p:nvSpPr>
          <p:cNvPr id="5" name="Shape 3"/>
          <p:cNvSpPr/>
          <p:nvPr/>
        </p:nvSpPr>
        <p:spPr>
          <a:xfrm>
            <a:off x="804672" y="1856232"/>
            <a:ext cx="502920" cy="502920"/>
          </a:xfrm>
          <a:prstGeom prst="ellipse">
            <a:avLst/>
          </a:prstGeom>
          <a:solidFill>
            <a:srgbClr val="AFD0EF"/>
          </a:solidFill>
          <a:ln/>
        </p:spPr>
      </p:sp>
      <p:pic>
        <p:nvPicPr>
          <p:cNvPr id="6" name="Image 0" descr="/home/claude/ppt/icons/bullseye_navy.png"/>
          <p:cNvPicPr>
            <a:picLocks noChangeAspect="1"/>
          </p:cNvPicPr>
          <p:nvPr/>
        </p:nvPicPr>
        <p:blipFill>
          <a:blip r:embed="rId3"/>
          <a:stretch>
            <a:fillRect/>
          </a:stretch>
        </p:blipFill>
        <p:spPr>
          <a:xfrm>
            <a:off x="925373" y="1976933"/>
            <a:ext cx="261518" cy="261518"/>
          </a:xfrm>
          <a:prstGeom prst="rect">
            <a:avLst/>
          </a:prstGeom>
        </p:spPr>
      </p:pic>
      <p:sp>
        <p:nvSpPr>
          <p:cNvPr id="7" name="Text 4"/>
          <p:cNvSpPr/>
          <p:nvPr/>
        </p:nvSpPr>
        <p:spPr>
          <a:xfrm>
            <a:off x="804672" y="251460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Predict house prices</a:t>
            </a:r>
            <a:endParaRPr lang="en-US" sz="1350" dirty="0"/>
          </a:p>
        </p:txBody>
      </p:sp>
      <p:sp>
        <p:nvSpPr>
          <p:cNvPr id="8" name="Text 5"/>
          <p:cNvSpPr/>
          <p:nvPr/>
        </p:nvSpPr>
        <p:spPr>
          <a:xfrm>
            <a:off x="804672" y="286207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Build a regression model that estimates median house value from property features.</a:t>
            </a:r>
            <a:endParaRPr lang="en-US" sz="1050" dirty="0"/>
          </a:p>
        </p:txBody>
      </p:sp>
      <p:sp>
        <p:nvSpPr>
          <p:cNvPr id="9" name="Shape 6"/>
          <p:cNvSpPr/>
          <p:nvPr/>
        </p:nvSpPr>
        <p:spPr>
          <a:xfrm>
            <a:off x="4050792" y="160020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sp>
      <p:sp>
        <p:nvSpPr>
          <p:cNvPr id="10" name="Shape 7"/>
          <p:cNvSpPr/>
          <p:nvPr/>
        </p:nvSpPr>
        <p:spPr>
          <a:xfrm>
            <a:off x="4306824" y="1856232"/>
            <a:ext cx="502920" cy="502920"/>
          </a:xfrm>
          <a:prstGeom prst="ellipse">
            <a:avLst/>
          </a:prstGeom>
          <a:solidFill>
            <a:srgbClr val="AFD0EF"/>
          </a:solidFill>
          <a:ln/>
        </p:spPr>
      </p:sp>
      <p:pic>
        <p:nvPicPr>
          <p:cNvPr id="11" name="Image 1" descr="/home/claude/ppt/icons/chart_bar_navy.png"/>
          <p:cNvPicPr>
            <a:picLocks noChangeAspect="1"/>
          </p:cNvPicPr>
          <p:nvPr/>
        </p:nvPicPr>
        <p:blipFill>
          <a:blip r:embed="rId4"/>
          <a:stretch>
            <a:fillRect/>
          </a:stretch>
        </p:blipFill>
        <p:spPr>
          <a:xfrm>
            <a:off x="4427525" y="1976933"/>
            <a:ext cx="261518" cy="261518"/>
          </a:xfrm>
          <a:prstGeom prst="rect">
            <a:avLst/>
          </a:prstGeom>
        </p:spPr>
      </p:pic>
      <p:sp>
        <p:nvSpPr>
          <p:cNvPr id="12" name="Text 8"/>
          <p:cNvSpPr/>
          <p:nvPr/>
        </p:nvSpPr>
        <p:spPr>
          <a:xfrm>
            <a:off x="4306824" y="251460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Analyze housing features</a:t>
            </a:r>
            <a:endParaRPr lang="en-US" sz="1350" dirty="0"/>
          </a:p>
        </p:txBody>
      </p:sp>
      <p:sp>
        <p:nvSpPr>
          <p:cNvPr id="13" name="Text 9"/>
          <p:cNvSpPr/>
          <p:nvPr/>
        </p:nvSpPr>
        <p:spPr>
          <a:xfrm>
            <a:off x="4306824" y="286207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Explore how location, income, age, and rooms relate to price through EDA.</a:t>
            </a:r>
            <a:endParaRPr lang="en-US" sz="1050" dirty="0"/>
          </a:p>
        </p:txBody>
      </p:sp>
      <p:sp>
        <p:nvSpPr>
          <p:cNvPr id="14" name="Shape 10"/>
          <p:cNvSpPr/>
          <p:nvPr/>
        </p:nvSpPr>
        <p:spPr>
          <a:xfrm>
            <a:off x="7552944" y="160020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sp>
      <p:sp>
        <p:nvSpPr>
          <p:cNvPr id="15" name="Shape 11"/>
          <p:cNvSpPr/>
          <p:nvPr/>
        </p:nvSpPr>
        <p:spPr>
          <a:xfrm>
            <a:off x="7808976" y="1856232"/>
            <a:ext cx="502920" cy="502920"/>
          </a:xfrm>
          <a:prstGeom prst="ellipse">
            <a:avLst/>
          </a:prstGeom>
          <a:solidFill>
            <a:srgbClr val="AFD0EF"/>
          </a:solidFill>
          <a:ln/>
        </p:spPr>
      </p:sp>
      <p:pic>
        <p:nvPicPr>
          <p:cNvPr id="16" name="Image 2" descr="/home/claude/ppt/icons/cogs_navy.png"/>
          <p:cNvPicPr>
            <a:picLocks noChangeAspect="1"/>
          </p:cNvPicPr>
          <p:nvPr/>
        </p:nvPicPr>
        <p:blipFill>
          <a:blip r:embed="rId5"/>
          <a:stretch>
            <a:fillRect/>
          </a:stretch>
        </p:blipFill>
        <p:spPr>
          <a:xfrm>
            <a:off x="7929677" y="1976933"/>
            <a:ext cx="261518" cy="261518"/>
          </a:xfrm>
          <a:prstGeom prst="rect">
            <a:avLst/>
          </a:prstGeom>
        </p:spPr>
      </p:pic>
      <p:sp>
        <p:nvSpPr>
          <p:cNvPr id="17" name="Text 12"/>
          <p:cNvSpPr/>
          <p:nvPr/>
        </p:nvSpPr>
        <p:spPr>
          <a:xfrm>
            <a:off x="7808976" y="251460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Build a clean ML pipeline</a:t>
            </a:r>
            <a:endParaRPr lang="en-US" sz="1350" dirty="0"/>
          </a:p>
        </p:txBody>
      </p:sp>
      <p:sp>
        <p:nvSpPr>
          <p:cNvPr id="18" name="Text 13"/>
          <p:cNvSpPr/>
          <p:nvPr/>
        </p:nvSpPr>
        <p:spPr>
          <a:xfrm>
            <a:off x="7808976" y="286207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Engineer a leakage-safe preprocessing and modeling pipeline using scikit-learn.</a:t>
            </a:r>
            <a:endParaRPr lang="en-US" sz="1050" dirty="0"/>
          </a:p>
        </p:txBody>
      </p:sp>
      <p:sp>
        <p:nvSpPr>
          <p:cNvPr id="19" name="Shape 14"/>
          <p:cNvSpPr/>
          <p:nvPr/>
        </p:nvSpPr>
        <p:spPr>
          <a:xfrm>
            <a:off x="548640" y="370332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sp>
      <p:sp>
        <p:nvSpPr>
          <p:cNvPr id="20" name="Shape 15"/>
          <p:cNvSpPr/>
          <p:nvPr/>
        </p:nvSpPr>
        <p:spPr>
          <a:xfrm>
            <a:off x="804672" y="3959352"/>
            <a:ext cx="502920" cy="502920"/>
          </a:xfrm>
          <a:prstGeom prst="ellipse">
            <a:avLst/>
          </a:prstGeom>
          <a:solidFill>
            <a:srgbClr val="AFD0EF"/>
          </a:solidFill>
          <a:ln/>
        </p:spPr>
      </p:sp>
      <p:pic>
        <p:nvPicPr>
          <p:cNvPr id="21" name="Image 3" descr="/home/claude/ppt/icons/check_navy.png"/>
          <p:cNvPicPr>
            <a:picLocks noChangeAspect="1"/>
          </p:cNvPicPr>
          <p:nvPr/>
        </p:nvPicPr>
        <p:blipFill>
          <a:blip r:embed="rId6"/>
          <a:stretch>
            <a:fillRect/>
          </a:stretch>
        </p:blipFill>
        <p:spPr>
          <a:xfrm>
            <a:off x="925373" y="4080053"/>
            <a:ext cx="261518" cy="261518"/>
          </a:xfrm>
          <a:prstGeom prst="rect">
            <a:avLst/>
          </a:prstGeom>
        </p:spPr>
      </p:pic>
      <p:sp>
        <p:nvSpPr>
          <p:cNvPr id="22" name="Text 16"/>
          <p:cNvSpPr/>
          <p:nvPr/>
        </p:nvSpPr>
        <p:spPr>
          <a:xfrm>
            <a:off x="804672" y="461772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Compare multiple models</a:t>
            </a:r>
            <a:endParaRPr lang="en-US" sz="1350" dirty="0"/>
          </a:p>
        </p:txBody>
      </p:sp>
      <p:sp>
        <p:nvSpPr>
          <p:cNvPr id="23" name="Text 17"/>
          <p:cNvSpPr/>
          <p:nvPr/>
        </p:nvSpPr>
        <p:spPr>
          <a:xfrm>
            <a:off x="804672" y="496519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Train and evaluate Linear Regression, Random Forest, and XGBoost.</a:t>
            </a:r>
            <a:endParaRPr lang="en-US" sz="1050" dirty="0"/>
          </a:p>
        </p:txBody>
      </p:sp>
      <p:sp>
        <p:nvSpPr>
          <p:cNvPr id="24" name="Shape 18"/>
          <p:cNvSpPr/>
          <p:nvPr/>
        </p:nvSpPr>
        <p:spPr>
          <a:xfrm>
            <a:off x="4050792" y="370332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sp>
      <p:sp>
        <p:nvSpPr>
          <p:cNvPr id="25" name="Shape 19"/>
          <p:cNvSpPr/>
          <p:nvPr/>
        </p:nvSpPr>
        <p:spPr>
          <a:xfrm>
            <a:off x="4306824" y="3959352"/>
            <a:ext cx="502920" cy="502920"/>
          </a:xfrm>
          <a:prstGeom prst="ellipse">
            <a:avLst/>
          </a:prstGeom>
          <a:solidFill>
            <a:srgbClr val="132A52"/>
          </a:solidFill>
          <a:ln/>
        </p:spPr>
      </p:sp>
      <p:pic>
        <p:nvPicPr>
          <p:cNvPr id="26" name="Image 4" descr="/home/claude/ppt/icons/chart_line_white.png"/>
          <p:cNvPicPr>
            <a:picLocks noChangeAspect="1"/>
          </p:cNvPicPr>
          <p:nvPr/>
        </p:nvPicPr>
        <p:blipFill>
          <a:blip r:embed="rId7"/>
          <a:stretch>
            <a:fillRect/>
          </a:stretch>
        </p:blipFill>
        <p:spPr>
          <a:xfrm>
            <a:off x="4427525" y="4080053"/>
            <a:ext cx="261518" cy="261518"/>
          </a:xfrm>
          <a:prstGeom prst="rect">
            <a:avLst/>
          </a:prstGeom>
        </p:spPr>
      </p:pic>
      <p:sp>
        <p:nvSpPr>
          <p:cNvPr id="27" name="Text 20"/>
          <p:cNvSpPr/>
          <p:nvPr/>
        </p:nvSpPr>
        <p:spPr>
          <a:xfrm>
            <a:off x="4306824" y="461772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Support data-driven decisions</a:t>
            </a:r>
            <a:endParaRPr lang="en-US" sz="1350" dirty="0"/>
          </a:p>
        </p:txBody>
      </p:sp>
      <p:sp>
        <p:nvSpPr>
          <p:cNvPr id="28" name="Text 21"/>
          <p:cNvSpPr/>
          <p:nvPr/>
        </p:nvSpPr>
        <p:spPr>
          <a:xfrm>
            <a:off x="4306824" y="496519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Provide objective, consistent price estimates for buyers, sellers, and analysts.</a:t>
            </a:r>
            <a:endParaRPr lang="en-US" sz="1050" dirty="0"/>
          </a:p>
        </p:txBody>
      </p:sp>
      <p:sp>
        <p:nvSpPr>
          <p:cNvPr id="29" name="Text 22"/>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30" name="Shape 23"/>
          <p:cNvSpPr/>
          <p:nvPr/>
        </p:nvSpPr>
        <p:spPr>
          <a:xfrm>
            <a:off x="11503152" y="6172200"/>
            <a:ext cx="384048" cy="384048"/>
          </a:xfrm>
          <a:prstGeom prst="ellipse">
            <a:avLst/>
          </a:prstGeom>
          <a:solidFill>
            <a:srgbClr val="132A52"/>
          </a:solidFill>
          <a:ln/>
        </p:spPr>
      </p:sp>
      <p:sp>
        <p:nvSpPr>
          <p:cNvPr id="31" name="Text 24"/>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THE DATA</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Dataset Description</a:t>
            </a:r>
            <a:endParaRPr lang="en-US" sz="3000" dirty="0"/>
          </a:p>
        </p:txBody>
      </p:sp>
      <p:sp>
        <p:nvSpPr>
          <p:cNvPr id="4" name="Shape 2"/>
          <p:cNvSpPr/>
          <p:nvPr/>
        </p:nvSpPr>
        <p:spPr>
          <a:xfrm>
            <a:off x="548640" y="1645920"/>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sp>
      <p:sp>
        <p:nvSpPr>
          <p:cNvPr id="5" name="Text 3"/>
          <p:cNvSpPr/>
          <p:nvPr/>
        </p:nvSpPr>
        <p:spPr>
          <a:xfrm>
            <a:off x="713232" y="1719072"/>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20,640</a:t>
            </a:r>
            <a:endParaRPr lang="en-US" sz="2400" dirty="0"/>
          </a:p>
        </p:txBody>
      </p:sp>
      <p:sp>
        <p:nvSpPr>
          <p:cNvPr id="6" name="Text 4"/>
          <p:cNvSpPr/>
          <p:nvPr/>
        </p:nvSpPr>
        <p:spPr>
          <a:xfrm>
            <a:off x="1920240" y="1645920"/>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Property Records</a:t>
            </a:r>
            <a:endParaRPr lang="en-US" sz="1100" dirty="0"/>
          </a:p>
        </p:txBody>
      </p:sp>
      <p:sp>
        <p:nvSpPr>
          <p:cNvPr id="7" name="Shape 5"/>
          <p:cNvSpPr/>
          <p:nvPr/>
        </p:nvSpPr>
        <p:spPr>
          <a:xfrm>
            <a:off x="548640" y="2578608"/>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sp>
      <p:sp>
        <p:nvSpPr>
          <p:cNvPr id="8" name="Text 6"/>
          <p:cNvSpPr/>
          <p:nvPr/>
        </p:nvSpPr>
        <p:spPr>
          <a:xfrm>
            <a:off x="713232" y="2651760"/>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10</a:t>
            </a:r>
            <a:endParaRPr lang="en-US" sz="2400" dirty="0"/>
          </a:p>
        </p:txBody>
      </p:sp>
      <p:sp>
        <p:nvSpPr>
          <p:cNvPr id="9" name="Text 7"/>
          <p:cNvSpPr/>
          <p:nvPr/>
        </p:nvSpPr>
        <p:spPr>
          <a:xfrm>
            <a:off x="1920240" y="2578608"/>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Total Columns</a:t>
            </a:r>
            <a:endParaRPr lang="en-US" sz="1100" dirty="0"/>
          </a:p>
        </p:txBody>
      </p:sp>
      <p:sp>
        <p:nvSpPr>
          <p:cNvPr id="10" name="Shape 8"/>
          <p:cNvSpPr/>
          <p:nvPr/>
        </p:nvSpPr>
        <p:spPr>
          <a:xfrm>
            <a:off x="548640" y="3511296"/>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sp>
      <p:sp>
        <p:nvSpPr>
          <p:cNvPr id="11" name="Text 9"/>
          <p:cNvSpPr/>
          <p:nvPr/>
        </p:nvSpPr>
        <p:spPr>
          <a:xfrm>
            <a:off x="713232" y="3584448"/>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8 + 1</a:t>
            </a:r>
            <a:endParaRPr lang="en-US" sz="2400" dirty="0"/>
          </a:p>
        </p:txBody>
      </p:sp>
      <p:sp>
        <p:nvSpPr>
          <p:cNvPr id="12" name="Text 10"/>
          <p:cNvSpPr/>
          <p:nvPr/>
        </p:nvSpPr>
        <p:spPr>
          <a:xfrm>
            <a:off x="1920240" y="3511296"/>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Numerical + Categorical Features</a:t>
            </a:r>
            <a:endParaRPr lang="en-US" sz="1100" dirty="0"/>
          </a:p>
        </p:txBody>
      </p:sp>
      <p:sp>
        <p:nvSpPr>
          <p:cNvPr id="13" name="Shape 11"/>
          <p:cNvSpPr/>
          <p:nvPr/>
        </p:nvSpPr>
        <p:spPr>
          <a:xfrm>
            <a:off x="548640" y="4443984"/>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sp>
      <p:sp>
        <p:nvSpPr>
          <p:cNvPr id="14" name="Text 12"/>
          <p:cNvSpPr/>
          <p:nvPr/>
        </p:nvSpPr>
        <p:spPr>
          <a:xfrm>
            <a:off x="713232" y="4517136"/>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1</a:t>
            </a:r>
            <a:endParaRPr lang="en-US" sz="2400" dirty="0"/>
          </a:p>
        </p:txBody>
      </p:sp>
      <p:sp>
        <p:nvSpPr>
          <p:cNvPr id="15" name="Text 13"/>
          <p:cNvSpPr/>
          <p:nvPr/>
        </p:nvSpPr>
        <p:spPr>
          <a:xfrm>
            <a:off x="1920240" y="4443984"/>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Target Variable</a:t>
            </a:r>
            <a:endParaRPr lang="en-US" sz="1100" dirty="0"/>
          </a:p>
        </p:txBody>
      </p:sp>
      <p:sp>
        <p:nvSpPr>
          <p:cNvPr id="16" name="Text 14"/>
          <p:cNvSpPr/>
          <p:nvPr/>
        </p:nvSpPr>
        <p:spPr>
          <a:xfrm>
            <a:off x="548640" y="5440680"/>
            <a:ext cx="5852160" cy="457200"/>
          </a:xfrm>
          <a:prstGeom prst="rect">
            <a:avLst/>
          </a:prstGeom>
          <a:noFill/>
          <a:ln/>
        </p:spPr>
        <p:txBody>
          <a:bodyPr wrap="square" lIns="0" tIns="0" rIns="0" bIns="0" rtlCol="0" anchor="ctr"/>
          <a:lstStyle/>
          <a:p>
            <a:pPr marL="0" indent="0">
              <a:buNone/>
            </a:pPr>
            <a:r>
              <a:rPr lang="en-US" sz="1050" i="1" dirty="0">
                <a:solidFill>
                  <a:srgbClr val="5C6B85"/>
                </a:solidFill>
                <a:latin typeface="Calibri" pitchFamily="34" charset="0"/>
                <a:ea typeface="Calibri" pitchFamily="34" charset="-122"/>
                <a:cs typeface="Calibri" pitchFamily="34" charset="-120"/>
              </a:rPr>
              <a:t>Dataset: California Housing Prices (housing.csv)  ·  Target: median_house_value</a:t>
            </a:r>
            <a:endParaRPr lang="en-US" sz="1050" dirty="0"/>
          </a:p>
        </p:txBody>
      </p:sp>
      <p:sp>
        <p:nvSpPr>
          <p:cNvPr id="17" name="Text 15"/>
          <p:cNvSpPr/>
          <p:nvPr/>
        </p:nvSpPr>
        <p:spPr>
          <a:xfrm>
            <a:off x="3794760" y="1600200"/>
            <a:ext cx="3657600" cy="274320"/>
          </a:xfrm>
          <a:prstGeom prst="rect">
            <a:avLst/>
          </a:prstGeom>
          <a:noFill/>
          <a:ln/>
        </p:spPr>
        <p:txBody>
          <a:bodyPr wrap="square" lIns="0" tIns="0" rIns="0" bIns="0" rtlCol="0" anchor="ctr"/>
          <a:lstStyle/>
          <a:p>
            <a:pPr marL="0" indent="0">
              <a:buNone/>
            </a:pPr>
            <a:r>
              <a:rPr lang="en-US" sz="1200" b="1" dirty="0">
                <a:solidFill>
                  <a:srgbClr val="132A52"/>
                </a:solidFill>
                <a:latin typeface="Calibri" pitchFamily="34" charset="0"/>
                <a:ea typeface="Calibri" pitchFamily="34" charset="-122"/>
                <a:cs typeface="Calibri" pitchFamily="34" charset="-120"/>
              </a:rPr>
              <a:t>Sample Rows (first 5)</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794760" y="1920240"/>
          <a:ext cx="7818120" cy="1828800"/>
        </p:xfrm>
        <a:graphic>
          <a:graphicData uri="http://schemas.openxmlformats.org/drawingml/2006/table">
            <a:tbl>
              <a:tblPr/>
              <a:tblGrid>
                <a:gridCol w="1280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2240280">
                  <a:extLst>
                    <a:ext uri="{9D8B030D-6E8A-4147-A177-3AD203B41FA5}">
                      <a16:colId xmlns:a16="http://schemas.microsoft.com/office/drawing/2014/main" val="20005"/>
                    </a:ext>
                  </a:extLst>
                </a:gridCol>
              </a:tblGrid>
              <a:tr h="304800">
                <a:tc>
                  <a:txBody>
                    <a:bodyPr/>
                    <a:lstStyle/>
                    <a:p>
                      <a:pPr marL="0" indent="0" algn="ctr">
                        <a:buNone/>
                      </a:pPr>
                      <a:r>
                        <a:rPr lang="en-US" sz="950" b="1" dirty="0">
                          <a:solidFill>
                            <a:srgbClr val="FFFFFF"/>
                          </a:solidFill>
                        </a:rPr>
                        <a:t>longitude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latitude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age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income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ocean_proximity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median_house_value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extLst>
                  <a:ext uri="{0D108BD9-81ED-4DB2-BD59-A6C34878D82A}">
                    <a16:rowId xmlns:a16="http://schemas.microsoft.com/office/drawing/2014/main" val="10000"/>
                  </a:ext>
                </a:extLst>
              </a:tr>
              <a:tr h="304800">
                <a:tc>
                  <a:txBody>
                    <a:bodyPr/>
                    <a:lstStyle/>
                    <a:p>
                      <a:pPr marL="0" indent="0" algn="ctr">
                        <a:buNone/>
                      </a:pPr>
                      <a:r>
                        <a:rPr lang="en-US" sz="950" dirty="0">
                          <a:solidFill>
                            <a:srgbClr val="1B2A4A"/>
                          </a:solidFill>
                        </a:rPr>
                        <a:t>-122.23</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37.88</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41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8.325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452,600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lgn="ctr">
                        <a:buNone/>
                      </a:pPr>
                      <a:r>
                        <a:rPr lang="en-US" sz="950" dirty="0">
                          <a:solidFill>
                            <a:srgbClr val="1B2A4A"/>
                          </a:solidFill>
                        </a:rPr>
                        <a:t>-122.22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37.86</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21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8.301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358,500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2"/>
                  </a:ext>
                </a:extLst>
              </a:tr>
              <a:tr h="304800">
                <a:tc>
                  <a:txBody>
                    <a:bodyPr/>
                    <a:lstStyle/>
                    <a:p>
                      <a:pPr marL="0" indent="0" algn="ctr">
                        <a:buNone/>
                      </a:pPr>
                      <a:r>
                        <a:rPr lang="en-US" sz="950" dirty="0">
                          <a:solidFill>
                            <a:srgbClr val="1B2A4A"/>
                          </a:solidFill>
                        </a:rPr>
                        <a:t>-122.24</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37.85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52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7.257</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352,100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lgn="ctr">
                        <a:buNone/>
                      </a:pPr>
                      <a:r>
                        <a:rPr lang="en-US" sz="950" dirty="0">
                          <a:solidFill>
                            <a:srgbClr val="1B2A4A"/>
                          </a:solidFill>
                        </a:rPr>
                        <a:t>-122.25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37.85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52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5.643</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341,300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4"/>
                  </a:ext>
                </a:extLst>
              </a:tr>
              <a:tr h="304800">
                <a:tc>
                  <a:txBody>
                    <a:bodyPr/>
                    <a:lstStyle/>
                    <a:p>
                      <a:pPr marL="0" indent="0" algn="ctr">
                        <a:buNone/>
                      </a:pPr>
                      <a:r>
                        <a:rPr lang="en-US" sz="950" dirty="0">
                          <a:solidFill>
                            <a:srgbClr val="1B2A4A"/>
                          </a:solidFill>
                        </a:rPr>
                        <a:t>-122.25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37.85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52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3.846</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342,200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6"/>
          <p:cNvSpPr/>
          <p:nvPr/>
        </p:nvSpPr>
        <p:spPr>
          <a:xfrm>
            <a:off x="3794760" y="3931920"/>
            <a:ext cx="3657600" cy="274320"/>
          </a:xfrm>
          <a:prstGeom prst="rect">
            <a:avLst/>
          </a:prstGeom>
          <a:noFill/>
          <a:ln/>
        </p:spPr>
        <p:txBody>
          <a:bodyPr wrap="square" lIns="0" tIns="0" rIns="0" bIns="0" rtlCol="0" anchor="ctr"/>
          <a:lstStyle/>
          <a:p>
            <a:pPr marL="0" indent="0">
              <a:buNone/>
            </a:pPr>
            <a:r>
              <a:rPr lang="en-US" sz="1200" b="1" dirty="0">
                <a:solidFill>
                  <a:srgbClr val="132A52"/>
                </a:solidFill>
                <a:latin typeface="Calibri" pitchFamily="34" charset="0"/>
                <a:ea typeface="Calibri" pitchFamily="34" charset="-122"/>
                <a:cs typeface="Calibri" pitchFamily="34" charset="-120"/>
              </a:rPr>
              <a:t>ocean_proximity categories</a:t>
            </a:r>
            <a:endParaRPr lang="en-US" sz="1200" dirty="0"/>
          </a:p>
        </p:txBody>
      </p:sp>
      <p:graphicFrame>
        <p:nvGraphicFramePr>
          <p:cNvPr id="20" name="Table 1"/>
          <p:cNvGraphicFramePr>
            <a:graphicFrameLocks noGrp="1"/>
          </p:cNvGraphicFramePr>
          <p:nvPr>
            <p:extLst>
              <p:ext uri="{D42A27DB-BD31-4B8C-83A1-F6EECF244321}">
                <p14:modId xmlns:p14="http://schemas.microsoft.com/office/powerpoint/2010/main" val="1579011935"/>
              </p:ext>
            </p:extLst>
          </p:nvPr>
        </p:nvGraphicFramePr>
        <p:xfrm>
          <a:off x="3794760" y="4251960"/>
          <a:ext cx="3657600" cy="1691640"/>
        </p:xfrm>
        <a:graphic>
          <a:graphicData uri="http://schemas.openxmlformats.org/drawingml/2006/table">
            <a:tbl>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281940">
                <a:tc>
                  <a:txBody>
                    <a:bodyPr/>
                    <a:lstStyle/>
                    <a:p>
                      <a:pPr marL="0" indent="0" algn="ctr">
                        <a:buNone/>
                      </a:pPr>
                      <a:r>
                        <a:rPr lang="en-US" sz="950" b="1" dirty="0">
                          <a:solidFill>
                            <a:srgbClr val="FFFFFF"/>
                          </a:solidFill>
                        </a:rPr>
                        <a:t>Category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Count</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extLst>
                  <a:ext uri="{0D108BD9-81ED-4DB2-BD59-A6C34878D82A}">
                    <a16:rowId xmlns:a16="http://schemas.microsoft.com/office/drawing/2014/main" val="10000"/>
                  </a:ext>
                </a:extLst>
              </a:tr>
              <a:tr h="281940">
                <a:tc>
                  <a:txBody>
                    <a:bodyPr/>
                    <a:lstStyle/>
                    <a:p>
                      <a:pPr marL="0" indent="0" algn="ctr">
                        <a:buNone/>
                      </a:pPr>
                      <a:r>
                        <a:rPr lang="en-US" sz="950" dirty="0">
                          <a:solidFill>
                            <a:srgbClr val="1B2A4A"/>
                          </a:solidFill>
                        </a:rPr>
                        <a:t>&lt;1H OCEAN</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9,136</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1940">
                <a:tc>
                  <a:txBody>
                    <a:bodyPr/>
                    <a:lstStyle/>
                    <a:p>
                      <a:pPr marL="0" indent="0" algn="ctr">
                        <a:buNone/>
                      </a:pPr>
                      <a:r>
                        <a:rPr lang="en-US" sz="950" dirty="0">
                          <a:solidFill>
                            <a:srgbClr val="1B2A4A"/>
                          </a:solidFill>
                        </a:rPr>
                        <a:t>INLAND</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6,551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2"/>
                  </a:ext>
                </a:extLst>
              </a:tr>
              <a:tr h="281940">
                <a:tc>
                  <a:txBody>
                    <a:bodyPr/>
                    <a:lstStyle/>
                    <a:p>
                      <a:pPr marL="0" indent="0" algn="ctr">
                        <a:buNone/>
                      </a:pPr>
                      <a:r>
                        <a:rPr lang="en-US" sz="950" dirty="0">
                          <a:solidFill>
                            <a:srgbClr val="1B2A4A"/>
                          </a:solidFill>
                        </a:rPr>
                        <a:t>NEAR OCEAN</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2,658</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1940">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2,290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4"/>
                  </a:ext>
                </a:extLst>
              </a:tr>
              <a:tr h="281940">
                <a:tc>
                  <a:txBody>
                    <a:bodyPr/>
                    <a:lstStyle/>
                    <a:p>
                      <a:pPr marL="0" indent="0" algn="ctr">
                        <a:buNone/>
                      </a:pPr>
                      <a:r>
                        <a:rPr lang="en-US" sz="950" dirty="0">
                          <a:solidFill>
                            <a:srgbClr val="1B2A4A"/>
                          </a:solidFill>
                        </a:rPr>
                        <a:t>ISLAND</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1" name="Text 17"/>
          <p:cNvSpPr/>
          <p:nvPr/>
        </p:nvSpPr>
        <p:spPr>
          <a:xfrm>
            <a:off x="7772400" y="4251960"/>
            <a:ext cx="3840480" cy="1371600"/>
          </a:xfrm>
          <a:prstGeom prst="rect">
            <a:avLst/>
          </a:prstGeom>
          <a:noFill/>
          <a:ln/>
        </p:spPr>
        <p:txBody>
          <a:bodyPr wrap="square" lIns="0" tIns="0" rIns="0" bIns="0" rtlCol="0" anchor="t"/>
          <a:lstStyle/>
          <a:p>
            <a:pPr marL="0" indent="0">
              <a:buNone/>
            </a:pPr>
            <a:r>
              <a:rPr lang="en-US" sz="1100" dirty="0">
                <a:solidFill>
                  <a:srgbClr val="5C6B85"/>
                </a:solidFill>
                <a:latin typeface="Calibri" pitchFamily="34" charset="0"/>
                <a:ea typeface="Calibri" pitchFamily="34" charset="-122"/>
                <a:cs typeface="Calibri" pitchFamily="34" charset="-120"/>
              </a:rPr>
              <a:t>Missing values: total_bedrooms has 207 nulls (~1%)</a:t>
            </a:r>
            <a:endParaRPr lang="en-US" sz="1100" dirty="0"/>
          </a:p>
          <a:p>
            <a:pPr marL="0" indent="0">
              <a:buNone/>
            </a:pPr>
            <a:r>
              <a:rPr lang="en-US" sz="1100" dirty="0">
                <a:solidFill>
                  <a:srgbClr val="5C6B85"/>
                </a:solidFill>
                <a:latin typeface="Calibri" pitchFamily="34" charset="0"/>
                <a:ea typeface="Calibri" pitchFamily="34" charset="-122"/>
                <a:cs typeface="Calibri" pitchFamily="34" charset="-120"/>
              </a:rPr>
              <a:t>Duplicate rows: 0 found</a:t>
            </a:r>
            <a:endParaRPr lang="en-US" sz="1100" dirty="0"/>
          </a:p>
        </p:txBody>
      </p:sp>
      <p:sp>
        <p:nvSpPr>
          <p:cNvPr id="22" name="Text 18"/>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23" name="Shape 19"/>
          <p:cNvSpPr/>
          <p:nvPr/>
        </p:nvSpPr>
        <p:spPr>
          <a:xfrm>
            <a:off x="11503152" y="6172200"/>
            <a:ext cx="384048" cy="384048"/>
          </a:xfrm>
          <a:prstGeom prst="ellipse">
            <a:avLst/>
          </a:prstGeom>
          <a:solidFill>
            <a:srgbClr val="132A52"/>
          </a:solidFill>
          <a:ln/>
        </p:spPr>
      </p:sp>
      <p:sp>
        <p:nvSpPr>
          <p:cNvPr id="24" name="Text 20"/>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WORKFLOW</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548640"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sp>
      <p:sp>
        <p:nvSpPr>
          <p:cNvPr id="5" name="Shape 3"/>
          <p:cNvSpPr/>
          <p:nvPr/>
        </p:nvSpPr>
        <p:spPr>
          <a:xfrm>
            <a:off x="1517904" y="2029968"/>
            <a:ext cx="548640" cy="548640"/>
          </a:xfrm>
          <a:prstGeom prst="ellipse">
            <a:avLst/>
          </a:prstGeom>
          <a:solidFill>
            <a:srgbClr val="1E3A6B"/>
          </a:solidFill>
          <a:ln/>
        </p:spPr>
      </p:sp>
      <p:pic>
        <p:nvPicPr>
          <p:cNvPr id="6" name="Image 0" descr="/home/claude/ppt/icons/download_white.png"/>
          <p:cNvPicPr>
            <a:picLocks noChangeAspect="1"/>
          </p:cNvPicPr>
          <p:nvPr/>
        </p:nvPicPr>
        <p:blipFill>
          <a:blip r:embed="rId3"/>
          <a:stretch>
            <a:fillRect/>
          </a:stretch>
        </p:blipFill>
        <p:spPr>
          <a:xfrm>
            <a:off x="1649578" y="2161642"/>
            <a:ext cx="285293" cy="285293"/>
          </a:xfrm>
          <a:prstGeom prst="rect">
            <a:avLst/>
          </a:prstGeom>
        </p:spPr>
      </p:pic>
      <p:sp>
        <p:nvSpPr>
          <p:cNvPr id="7" name="Text 4"/>
          <p:cNvSpPr/>
          <p:nvPr/>
        </p:nvSpPr>
        <p:spPr>
          <a:xfrm>
            <a:off x="658368"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640080"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Collection</a:t>
            </a:r>
            <a:endParaRPr lang="en-US" sz="1250" dirty="0"/>
          </a:p>
        </p:txBody>
      </p:sp>
      <p:pic>
        <p:nvPicPr>
          <p:cNvPr id="9" name="Image 1" descr="/home/claude/ppt/icons/arrow_right_navy.png"/>
          <p:cNvPicPr>
            <a:picLocks noChangeAspect="1"/>
          </p:cNvPicPr>
          <p:nvPr/>
        </p:nvPicPr>
        <p:blipFill>
          <a:blip r:embed="rId4"/>
          <a:stretch>
            <a:fillRect/>
          </a:stretch>
        </p:blipFill>
        <p:spPr>
          <a:xfrm>
            <a:off x="3054096" y="2519172"/>
            <a:ext cx="201168" cy="201168"/>
          </a:xfrm>
          <a:prstGeom prst="rect">
            <a:avLst/>
          </a:prstGeom>
        </p:spPr>
      </p:pic>
      <p:sp>
        <p:nvSpPr>
          <p:cNvPr id="10" name="Shape 6"/>
          <p:cNvSpPr/>
          <p:nvPr/>
        </p:nvSpPr>
        <p:spPr>
          <a:xfrm>
            <a:off x="3255264"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sp>
      <p:sp>
        <p:nvSpPr>
          <p:cNvPr id="11" name="Shape 7"/>
          <p:cNvSpPr/>
          <p:nvPr/>
        </p:nvSpPr>
        <p:spPr>
          <a:xfrm>
            <a:off x="4224528" y="2029968"/>
            <a:ext cx="548640" cy="548640"/>
          </a:xfrm>
          <a:prstGeom prst="ellipse">
            <a:avLst/>
          </a:prstGeom>
          <a:solidFill>
            <a:srgbClr val="1E3A6B"/>
          </a:solidFill>
          <a:ln/>
        </p:spPr>
      </p:sp>
      <p:pic>
        <p:nvPicPr>
          <p:cNvPr id="12" name="Image 2" descr="/home/claude/ppt/icons/broom_white.png"/>
          <p:cNvPicPr>
            <a:picLocks noChangeAspect="1"/>
          </p:cNvPicPr>
          <p:nvPr/>
        </p:nvPicPr>
        <p:blipFill>
          <a:blip r:embed="rId5"/>
          <a:stretch>
            <a:fillRect/>
          </a:stretch>
        </p:blipFill>
        <p:spPr>
          <a:xfrm>
            <a:off x="4356202" y="2161642"/>
            <a:ext cx="285293" cy="285293"/>
          </a:xfrm>
          <a:prstGeom prst="rect">
            <a:avLst/>
          </a:prstGeom>
        </p:spPr>
      </p:pic>
      <p:sp>
        <p:nvSpPr>
          <p:cNvPr id="13" name="Text 8"/>
          <p:cNvSpPr/>
          <p:nvPr/>
        </p:nvSpPr>
        <p:spPr>
          <a:xfrm>
            <a:off x="3364992"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2</a:t>
            </a:r>
            <a:endParaRPr lang="en-US" sz="1100" dirty="0"/>
          </a:p>
        </p:txBody>
      </p:sp>
      <p:sp>
        <p:nvSpPr>
          <p:cNvPr id="14" name="Text 9"/>
          <p:cNvSpPr/>
          <p:nvPr/>
        </p:nvSpPr>
        <p:spPr>
          <a:xfrm>
            <a:off x="3346704"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Cleaning</a:t>
            </a:r>
            <a:endParaRPr lang="en-US" sz="1250" dirty="0"/>
          </a:p>
        </p:txBody>
      </p:sp>
      <p:pic>
        <p:nvPicPr>
          <p:cNvPr id="15" name="Image 3" descr="/home/claude/ppt/icons/arrow_right_navy.png"/>
          <p:cNvPicPr>
            <a:picLocks noChangeAspect="1"/>
          </p:cNvPicPr>
          <p:nvPr/>
        </p:nvPicPr>
        <p:blipFill>
          <a:blip r:embed="rId4"/>
          <a:stretch>
            <a:fillRect/>
          </a:stretch>
        </p:blipFill>
        <p:spPr>
          <a:xfrm>
            <a:off x="5760720" y="2519172"/>
            <a:ext cx="201168" cy="201168"/>
          </a:xfrm>
          <a:prstGeom prst="rect">
            <a:avLst/>
          </a:prstGeom>
        </p:spPr>
      </p:pic>
      <p:sp>
        <p:nvSpPr>
          <p:cNvPr id="16" name="Shape 10"/>
          <p:cNvSpPr/>
          <p:nvPr/>
        </p:nvSpPr>
        <p:spPr>
          <a:xfrm>
            <a:off x="5961888"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sp>
      <p:sp>
        <p:nvSpPr>
          <p:cNvPr id="17" name="Shape 11"/>
          <p:cNvSpPr/>
          <p:nvPr/>
        </p:nvSpPr>
        <p:spPr>
          <a:xfrm>
            <a:off x="6931152" y="2029968"/>
            <a:ext cx="548640" cy="548640"/>
          </a:xfrm>
          <a:prstGeom prst="ellipse">
            <a:avLst/>
          </a:prstGeom>
          <a:solidFill>
            <a:srgbClr val="1E3A6B"/>
          </a:solidFill>
          <a:ln/>
        </p:spPr>
      </p:sp>
      <p:pic>
        <p:nvPicPr>
          <p:cNvPr id="18" name="Image 4" descr="/home/claude/ppt/icons/chart_area_white.png"/>
          <p:cNvPicPr>
            <a:picLocks noChangeAspect="1"/>
          </p:cNvPicPr>
          <p:nvPr/>
        </p:nvPicPr>
        <p:blipFill>
          <a:blip r:embed="rId6"/>
          <a:stretch>
            <a:fillRect/>
          </a:stretch>
        </p:blipFill>
        <p:spPr>
          <a:xfrm>
            <a:off x="7062826" y="2161642"/>
            <a:ext cx="285293" cy="285293"/>
          </a:xfrm>
          <a:prstGeom prst="rect">
            <a:avLst/>
          </a:prstGeom>
        </p:spPr>
      </p:pic>
      <p:sp>
        <p:nvSpPr>
          <p:cNvPr id="19" name="Text 12"/>
          <p:cNvSpPr/>
          <p:nvPr/>
        </p:nvSpPr>
        <p:spPr>
          <a:xfrm>
            <a:off x="6071616"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3</a:t>
            </a:r>
            <a:endParaRPr lang="en-US" sz="1100" dirty="0"/>
          </a:p>
        </p:txBody>
      </p:sp>
      <p:sp>
        <p:nvSpPr>
          <p:cNvPr id="20" name="Text 13"/>
          <p:cNvSpPr/>
          <p:nvPr/>
        </p:nvSpPr>
        <p:spPr>
          <a:xfrm>
            <a:off x="6053328"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Exploratory</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Data Analysis</a:t>
            </a:r>
            <a:endParaRPr lang="en-US" sz="1250" dirty="0"/>
          </a:p>
        </p:txBody>
      </p:sp>
      <p:pic>
        <p:nvPicPr>
          <p:cNvPr id="21" name="Image 5" descr="/home/claude/ppt/icons/arrow_right_navy.png"/>
          <p:cNvPicPr>
            <a:picLocks noChangeAspect="1"/>
          </p:cNvPicPr>
          <p:nvPr/>
        </p:nvPicPr>
        <p:blipFill>
          <a:blip r:embed="rId4"/>
          <a:stretch>
            <a:fillRect/>
          </a:stretch>
        </p:blipFill>
        <p:spPr>
          <a:xfrm>
            <a:off x="8467344" y="2519172"/>
            <a:ext cx="201168" cy="201168"/>
          </a:xfrm>
          <a:prstGeom prst="rect">
            <a:avLst/>
          </a:prstGeom>
        </p:spPr>
      </p:pic>
      <p:sp>
        <p:nvSpPr>
          <p:cNvPr id="22" name="Shape 14"/>
          <p:cNvSpPr/>
          <p:nvPr/>
        </p:nvSpPr>
        <p:spPr>
          <a:xfrm>
            <a:off x="8668512"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sp>
      <p:sp>
        <p:nvSpPr>
          <p:cNvPr id="23" name="Shape 15"/>
          <p:cNvSpPr/>
          <p:nvPr/>
        </p:nvSpPr>
        <p:spPr>
          <a:xfrm>
            <a:off x="9637776" y="2029968"/>
            <a:ext cx="548640" cy="548640"/>
          </a:xfrm>
          <a:prstGeom prst="ellipse">
            <a:avLst/>
          </a:prstGeom>
          <a:solidFill>
            <a:srgbClr val="1E3A6B"/>
          </a:solidFill>
          <a:ln/>
        </p:spPr>
      </p:sp>
      <p:pic>
        <p:nvPicPr>
          <p:cNvPr id="24" name="Image 6" descr="/home/claude/ppt/icons/cogs_white.png"/>
          <p:cNvPicPr>
            <a:picLocks noChangeAspect="1"/>
          </p:cNvPicPr>
          <p:nvPr/>
        </p:nvPicPr>
        <p:blipFill>
          <a:blip r:embed="rId7"/>
          <a:stretch>
            <a:fillRect/>
          </a:stretch>
        </p:blipFill>
        <p:spPr>
          <a:xfrm>
            <a:off x="9769450" y="2161642"/>
            <a:ext cx="285293" cy="285293"/>
          </a:xfrm>
          <a:prstGeom prst="rect">
            <a:avLst/>
          </a:prstGeom>
        </p:spPr>
      </p:pic>
      <p:sp>
        <p:nvSpPr>
          <p:cNvPr id="25" name="Text 16"/>
          <p:cNvSpPr/>
          <p:nvPr/>
        </p:nvSpPr>
        <p:spPr>
          <a:xfrm>
            <a:off x="8778240"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4</a:t>
            </a:r>
            <a:endParaRPr lang="en-US" sz="1100" dirty="0"/>
          </a:p>
        </p:txBody>
      </p:sp>
      <p:sp>
        <p:nvSpPr>
          <p:cNvPr id="26" name="Text 17"/>
          <p:cNvSpPr/>
          <p:nvPr/>
        </p:nvSpPr>
        <p:spPr>
          <a:xfrm>
            <a:off x="8759952"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Engineering</a:t>
            </a:r>
            <a:endParaRPr lang="en-US" sz="1250" dirty="0"/>
          </a:p>
        </p:txBody>
      </p:sp>
      <p:pic>
        <p:nvPicPr>
          <p:cNvPr id="27" name="Image 7" descr="/home/claude/ppt/icons/arrow_down_navy.png"/>
          <p:cNvPicPr>
            <a:picLocks noChangeAspect="1"/>
          </p:cNvPicPr>
          <p:nvPr/>
        </p:nvPicPr>
        <p:blipFill>
          <a:blip r:embed="rId8"/>
          <a:stretch>
            <a:fillRect/>
          </a:stretch>
        </p:blipFill>
        <p:spPr>
          <a:xfrm>
            <a:off x="9811512" y="3575304"/>
            <a:ext cx="201168" cy="201168"/>
          </a:xfrm>
          <a:prstGeom prst="rect">
            <a:avLst/>
          </a:prstGeom>
        </p:spPr>
      </p:pic>
      <p:sp>
        <p:nvSpPr>
          <p:cNvPr id="28" name="Shape 18"/>
          <p:cNvSpPr/>
          <p:nvPr/>
        </p:nvSpPr>
        <p:spPr>
          <a:xfrm>
            <a:off x="548640"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sp>
      <p:sp>
        <p:nvSpPr>
          <p:cNvPr id="29" name="Shape 19"/>
          <p:cNvSpPr/>
          <p:nvPr/>
        </p:nvSpPr>
        <p:spPr>
          <a:xfrm>
            <a:off x="1517904" y="4133088"/>
            <a:ext cx="548640" cy="548640"/>
          </a:xfrm>
          <a:prstGeom prst="ellipse">
            <a:avLst/>
          </a:prstGeom>
          <a:solidFill>
            <a:srgbClr val="EAF1FB"/>
          </a:solidFill>
          <a:ln/>
        </p:spPr>
      </p:sp>
      <p:pic>
        <p:nvPicPr>
          <p:cNvPr id="30" name="Image 8" descr="/home/claude/ppt/icons/home_navy.png"/>
          <p:cNvPicPr>
            <a:picLocks noChangeAspect="1"/>
          </p:cNvPicPr>
          <p:nvPr/>
        </p:nvPicPr>
        <p:blipFill>
          <a:blip r:embed="rId9"/>
          <a:stretch>
            <a:fillRect/>
          </a:stretch>
        </p:blipFill>
        <p:spPr>
          <a:xfrm>
            <a:off x="1649578" y="4264762"/>
            <a:ext cx="285293" cy="285293"/>
          </a:xfrm>
          <a:prstGeom prst="rect">
            <a:avLst/>
          </a:prstGeom>
        </p:spPr>
      </p:pic>
      <p:sp>
        <p:nvSpPr>
          <p:cNvPr id="31" name="Text 20"/>
          <p:cNvSpPr/>
          <p:nvPr/>
        </p:nvSpPr>
        <p:spPr>
          <a:xfrm>
            <a:off x="658368"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5</a:t>
            </a:r>
            <a:endParaRPr lang="en-US" sz="1100" dirty="0"/>
          </a:p>
        </p:txBody>
      </p:sp>
      <p:sp>
        <p:nvSpPr>
          <p:cNvPr id="32" name="Text 21"/>
          <p:cNvSpPr/>
          <p:nvPr/>
        </p:nvSpPr>
        <p:spPr>
          <a:xfrm>
            <a:off x="640080"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Train-Test</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Split</a:t>
            </a:r>
            <a:endParaRPr lang="en-US" sz="1250" dirty="0"/>
          </a:p>
        </p:txBody>
      </p:sp>
      <p:pic>
        <p:nvPicPr>
          <p:cNvPr id="33" name="Image 9" descr="/home/claude/ppt/icons/arrow_right_navy.png"/>
          <p:cNvPicPr>
            <a:picLocks noChangeAspect="1"/>
          </p:cNvPicPr>
          <p:nvPr/>
        </p:nvPicPr>
        <p:blipFill>
          <a:blip r:embed="rId4"/>
          <a:stretch>
            <a:fillRect/>
          </a:stretch>
        </p:blipFill>
        <p:spPr>
          <a:xfrm>
            <a:off x="3054096" y="4622292"/>
            <a:ext cx="201168" cy="201168"/>
          </a:xfrm>
          <a:prstGeom prst="rect">
            <a:avLst/>
          </a:prstGeom>
        </p:spPr>
      </p:pic>
      <p:sp>
        <p:nvSpPr>
          <p:cNvPr id="34" name="Shape 22"/>
          <p:cNvSpPr/>
          <p:nvPr/>
        </p:nvSpPr>
        <p:spPr>
          <a:xfrm>
            <a:off x="3255264"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sp>
      <p:sp>
        <p:nvSpPr>
          <p:cNvPr id="35" name="Shape 23"/>
          <p:cNvSpPr/>
          <p:nvPr/>
        </p:nvSpPr>
        <p:spPr>
          <a:xfrm>
            <a:off x="4224528" y="4133088"/>
            <a:ext cx="548640" cy="548640"/>
          </a:xfrm>
          <a:prstGeom prst="ellipse">
            <a:avLst/>
          </a:prstGeom>
          <a:solidFill>
            <a:srgbClr val="EAF1FB"/>
          </a:solidFill>
          <a:ln/>
        </p:spPr>
      </p:sp>
      <p:pic>
        <p:nvPicPr>
          <p:cNvPr id="36" name="Image 10" descr="/home/claude/ppt/icons/home_navy.png"/>
          <p:cNvPicPr>
            <a:picLocks noChangeAspect="1"/>
          </p:cNvPicPr>
          <p:nvPr/>
        </p:nvPicPr>
        <p:blipFill>
          <a:blip r:embed="rId9"/>
          <a:stretch>
            <a:fillRect/>
          </a:stretch>
        </p:blipFill>
        <p:spPr>
          <a:xfrm>
            <a:off x="4356202" y="4264762"/>
            <a:ext cx="285293" cy="285293"/>
          </a:xfrm>
          <a:prstGeom prst="rect">
            <a:avLst/>
          </a:prstGeom>
        </p:spPr>
      </p:pic>
      <p:sp>
        <p:nvSpPr>
          <p:cNvPr id="37" name="Text 24"/>
          <p:cNvSpPr/>
          <p:nvPr/>
        </p:nvSpPr>
        <p:spPr>
          <a:xfrm>
            <a:off x="3364992"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6</a:t>
            </a:r>
            <a:endParaRPr lang="en-US" sz="1100" dirty="0"/>
          </a:p>
        </p:txBody>
      </p:sp>
      <p:sp>
        <p:nvSpPr>
          <p:cNvPr id="38" name="Text 25"/>
          <p:cNvSpPr/>
          <p:nvPr/>
        </p:nvSpPr>
        <p:spPr>
          <a:xfrm>
            <a:off x="3346704"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Model</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Training</a:t>
            </a:r>
            <a:endParaRPr lang="en-US" sz="1250" dirty="0"/>
          </a:p>
        </p:txBody>
      </p:sp>
      <p:pic>
        <p:nvPicPr>
          <p:cNvPr id="39" name="Image 11" descr="/home/claude/ppt/icons/arrow_right_navy.png"/>
          <p:cNvPicPr>
            <a:picLocks noChangeAspect="1"/>
          </p:cNvPicPr>
          <p:nvPr/>
        </p:nvPicPr>
        <p:blipFill>
          <a:blip r:embed="rId4"/>
          <a:stretch>
            <a:fillRect/>
          </a:stretch>
        </p:blipFill>
        <p:spPr>
          <a:xfrm>
            <a:off x="5760720" y="4622292"/>
            <a:ext cx="201168" cy="201168"/>
          </a:xfrm>
          <a:prstGeom prst="rect">
            <a:avLst/>
          </a:prstGeom>
        </p:spPr>
      </p:pic>
      <p:sp>
        <p:nvSpPr>
          <p:cNvPr id="40" name="Shape 26"/>
          <p:cNvSpPr/>
          <p:nvPr/>
        </p:nvSpPr>
        <p:spPr>
          <a:xfrm>
            <a:off x="5961888"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sp>
      <p:sp>
        <p:nvSpPr>
          <p:cNvPr id="41" name="Shape 27"/>
          <p:cNvSpPr/>
          <p:nvPr/>
        </p:nvSpPr>
        <p:spPr>
          <a:xfrm>
            <a:off x="6931152" y="4133088"/>
            <a:ext cx="548640" cy="548640"/>
          </a:xfrm>
          <a:prstGeom prst="ellipse">
            <a:avLst/>
          </a:prstGeom>
          <a:solidFill>
            <a:srgbClr val="EAF1FB"/>
          </a:solidFill>
          <a:ln/>
        </p:spPr>
      </p:sp>
      <p:pic>
        <p:nvPicPr>
          <p:cNvPr id="42" name="Image 12" descr="/home/claude/ppt/icons/chart_bar_navy.png"/>
          <p:cNvPicPr>
            <a:picLocks noChangeAspect="1"/>
          </p:cNvPicPr>
          <p:nvPr/>
        </p:nvPicPr>
        <p:blipFill>
          <a:blip r:embed="rId10"/>
          <a:stretch>
            <a:fillRect/>
          </a:stretch>
        </p:blipFill>
        <p:spPr>
          <a:xfrm>
            <a:off x="7062826" y="4264762"/>
            <a:ext cx="285293" cy="285293"/>
          </a:xfrm>
          <a:prstGeom prst="rect">
            <a:avLst/>
          </a:prstGeom>
        </p:spPr>
      </p:pic>
      <p:sp>
        <p:nvSpPr>
          <p:cNvPr id="43" name="Text 28"/>
          <p:cNvSpPr/>
          <p:nvPr/>
        </p:nvSpPr>
        <p:spPr>
          <a:xfrm>
            <a:off x="6071616"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7</a:t>
            </a:r>
            <a:endParaRPr lang="en-US" sz="1100" dirty="0"/>
          </a:p>
        </p:txBody>
      </p:sp>
      <p:sp>
        <p:nvSpPr>
          <p:cNvPr id="44" name="Text 29"/>
          <p:cNvSpPr/>
          <p:nvPr/>
        </p:nvSpPr>
        <p:spPr>
          <a:xfrm>
            <a:off x="6053328"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Model</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Evaluation</a:t>
            </a:r>
            <a:endParaRPr lang="en-US" sz="1250" dirty="0"/>
          </a:p>
        </p:txBody>
      </p:sp>
      <p:pic>
        <p:nvPicPr>
          <p:cNvPr id="45" name="Image 13" descr="/home/claude/ppt/icons/arrow_right_navy.png"/>
          <p:cNvPicPr>
            <a:picLocks noChangeAspect="1"/>
          </p:cNvPicPr>
          <p:nvPr/>
        </p:nvPicPr>
        <p:blipFill>
          <a:blip r:embed="rId4"/>
          <a:stretch>
            <a:fillRect/>
          </a:stretch>
        </p:blipFill>
        <p:spPr>
          <a:xfrm>
            <a:off x="8467344" y="4622292"/>
            <a:ext cx="201168" cy="201168"/>
          </a:xfrm>
          <a:prstGeom prst="rect">
            <a:avLst/>
          </a:prstGeom>
        </p:spPr>
      </p:pic>
      <p:sp>
        <p:nvSpPr>
          <p:cNvPr id="46" name="Shape 30"/>
          <p:cNvSpPr/>
          <p:nvPr/>
        </p:nvSpPr>
        <p:spPr>
          <a:xfrm>
            <a:off x="8668512"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sp>
      <p:sp>
        <p:nvSpPr>
          <p:cNvPr id="47" name="Shape 31"/>
          <p:cNvSpPr/>
          <p:nvPr/>
        </p:nvSpPr>
        <p:spPr>
          <a:xfrm>
            <a:off x="9637776" y="4133088"/>
            <a:ext cx="548640" cy="548640"/>
          </a:xfrm>
          <a:prstGeom prst="ellipse">
            <a:avLst/>
          </a:prstGeom>
          <a:solidFill>
            <a:srgbClr val="EAF1FB"/>
          </a:solidFill>
          <a:ln/>
        </p:spPr>
      </p:sp>
      <p:pic>
        <p:nvPicPr>
          <p:cNvPr id="48" name="Image 14" descr="/home/claude/ppt/icons/home_navy.png"/>
          <p:cNvPicPr>
            <a:picLocks noChangeAspect="1"/>
          </p:cNvPicPr>
          <p:nvPr/>
        </p:nvPicPr>
        <p:blipFill>
          <a:blip r:embed="rId9"/>
          <a:stretch>
            <a:fillRect/>
          </a:stretch>
        </p:blipFill>
        <p:spPr>
          <a:xfrm>
            <a:off x="9769450" y="4264762"/>
            <a:ext cx="285293" cy="285293"/>
          </a:xfrm>
          <a:prstGeom prst="rect">
            <a:avLst/>
          </a:prstGeom>
        </p:spPr>
      </p:pic>
      <p:sp>
        <p:nvSpPr>
          <p:cNvPr id="49" name="Text 32"/>
          <p:cNvSpPr/>
          <p:nvPr/>
        </p:nvSpPr>
        <p:spPr>
          <a:xfrm>
            <a:off x="8778240"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8</a:t>
            </a:r>
            <a:endParaRPr lang="en-US" sz="1100" dirty="0"/>
          </a:p>
        </p:txBody>
      </p:sp>
      <p:sp>
        <p:nvSpPr>
          <p:cNvPr id="50" name="Text 33"/>
          <p:cNvSpPr/>
          <p:nvPr/>
        </p:nvSpPr>
        <p:spPr>
          <a:xfrm>
            <a:off x="8759952"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House Price</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Prediction</a:t>
            </a:r>
            <a:endParaRPr lang="en-US" sz="1250" dirty="0"/>
          </a:p>
        </p:txBody>
      </p:sp>
      <p:sp>
        <p:nvSpPr>
          <p:cNvPr id="51" name="Text 34"/>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52" name="Shape 35"/>
          <p:cNvSpPr/>
          <p:nvPr/>
        </p:nvSpPr>
        <p:spPr>
          <a:xfrm>
            <a:off x="11503152" y="6172200"/>
            <a:ext cx="384048" cy="384048"/>
          </a:xfrm>
          <a:prstGeom prst="ellipse">
            <a:avLst/>
          </a:prstGeom>
          <a:solidFill>
            <a:srgbClr val="132A52"/>
          </a:solidFill>
          <a:ln/>
        </p:spPr>
      </p:sp>
      <p:sp>
        <p:nvSpPr>
          <p:cNvPr id="53" name="Text 36"/>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PIPELINE</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Data Preprocessing</a:t>
            </a:r>
            <a:endParaRPr lang="en-US" sz="3000" dirty="0"/>
          </a:p>
        </p:txBody>
      </p:sp>
      <p:sp>
        <p:nvSpPr>
          <p:cNvPr id="4" name="Shape 2"/>
          <p:cNvSpPr/>
          <p:nvPr/>
        </p:nvSpPr>
        <p:spPr>
          <a:xfrm>
            <a:off x="548640" y="1600200"/>
            <a:ext cx="475488" cy="475488"/>
          </a:xfrm>
          <a:prstGeom prst="ellipse">
            <a:avLst/>
          </a:prstGeom>
          <a:solidFill>
            <a:srgbClr val="EAF1FB"/>
          </a:solidFill>
          <a:ln/>
        </p:spPr>
      </p:sp>
      <p:pic>
        <p:nvPicPr>
          <p:cNvPr id="5" name="Image 0" descr="/home/claude/ppt/icons/filter_navy.png"/>
          <p:cNvPicPr>
            <a:picLocks noChangeAspect="1"/>
          </p:cNvPicPr>
          <p:nvPr/>
        </p:nvPicPr>
        <p:blipFill>
          <a:blip r:embed="rId3"/>
          <a:stretch>
            <a:fillRect/>
          </a:stretch>
        </p:blipFill>
        <p:spPr>
          <a:xfrm>
            <a:off x="662757" y="1714317"/>
            <a:ext cx="247254" cy="247254"/>
          </a:xfrm>
          <a:prstGeom prst="rect">
            <a:avLst/>
          </a:prstGeom>
        </p:spPr>
      </p:pic>
      <p:sp>
        <p:nvSpPr>
          <p:cNvPr id="6" name="Text 3"/>
          <p:cNvSpPr/>
          <p:nvPr/>
        </p:nvSpPr>
        <p:spPr>
          <a:xfrm>
            <a:off x="1234440" y="1581912"/>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Missing value imputation</a:t>
            </a:r>
            <a:endParaRPr lang="en-US" sz="1400" dirty="0"/>
          </a:p>
        </p:txBody>
      </p:sp>
      <p:sp>
        <p:nvSpPr>
          <p:cNvPr id="7" name="Text 4"/>
          <p:cNvSpPr/>
          <p:nvPr/>
        </p:nvSpPr>
        <p:spPr>
          <a:xfrm>
            <a:off x="1234440" y="1874520"/>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total_bedrooms had 207 missing values (~1%). Median (numeric) / most-frequent (categorical) imputation, fit on the training set only to prevent data leakage.</a:t>
            </a:r>
            <a:endParaRPr lang="en-US" sz="1100" dirty="0"/>
          </a:p>
        </p:txBody>
      </p:sp>
      <p:sp>
        <p:nvSpPr>
          <p:cNvPr id="8" name="Shape 5"/>
          <p:cNvSpPr/>
          <p:nvPr/>
        </p:nvSpPr>
        <p:spPr>
          <a:xfrm>
            <a:off x="548640" y="2624328"/>
            <a:ext cx="475488" cy="475488"/>
          </a:xfrm>
          <a:prstGeom prst="ellipse">
            <a:avLst/>
          </a:prstGeom>
          <a:solidFill>
            <a:srgbClr val="EAF1FB"/>
          </a:solidFill>
          <a:ln/>
        </p:spPr>
      </p:sp>
      <p:pic>
        <p:nvPicPr>
          <p:cNvPr id="9" name="Image 1" descr="/home/claude/ppt/icons/cut_navy.png"/>
          <p:cNvPicPr>
            <a:picLocks noChangeAspect="1"/>
          </p:cNvPicPr>
          <p:nvPr/>
        </p:nvPicPr>
        <p:blipFill>
          <a:blip r:embed="rId4"/>
          <a:stretch>
            <a:fillRect/>
          </a:stretch>
        </p:blipFill>
        <p:spPr>
          <a:xfrm>
            <a:off x="662757" y="2738445"/>
            <a:ext cx="247254" cy="247254"/>
          </a:xfrm>
          <a:prstGeom prst="rect">
            <a:avLst/>
          </a:prstGeom>
        </p:spPr>
      </p:pic>
      <p:sp>
        <p:nvSpPr>
          <p:cNvPr id="10" name="Text 6"/>
          <p:cNvSpPr/>
          <p:nvPr/>
        </p:nvSpPr>
        <p:spPr>
          <a:xfrm>
            <a:off x="1234440" y="2606040"/>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Duplicate check</a:t>
            </a:r>
            <a:endParaRPr lang="en-US" sz="1400" dirty="0"/>
          </a:p>
        </p:txBody>
      </p:sp>
      <p:sp>
        <p:nvSpPr>
          <p:cNvPr id="11" name="Text 7"/>
          <p:cNvSpPr/>
          <p:nvPr/>
        </p:nvSpPr>
        <p:spPr>
          <a:xfrm>
            <a:off x="1234440" y="2898648"/>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Dataset checked for duplicate rows — none were found, so no rows were dropped.</a:t>
            </a:r>
            <a:endParaRPr lang="en-US" sz="1100" dirty="0"/>
          </a:p>
        </p:txBody>
      </p:sp>
      <p:sp>
        <p:nvSpPr>
          <p:cNvPr id="12" name="Shape 8"/>
          <p:cNvSpPr/>
          <p:nvPr/>
        </p:nvSpPr>
        <p:spPr>
          <a:xfrm>
            <a:off x="548640" y="3648456"/>
            <a:ext cx="475488" cy="475488"/>
          </a:xfrm>
          <a:prstGeom prst="ellipse">
            <a:avLst/>
          </a:prstGeom>
          <a:solidFill>
            <a:srgbClr val="EAF1FB"/>
          </a:solidFill>
          <a:ln/>
        </p:spPr>
      </p:sp>
      <p:pic>
        <p:nvPicPr>
          <p:cNvPr id="13" name="Image 2" descr="/home/claude/ppt/icons/exchange_navy.png"/>
          <p:cNvPicPr>
            <a:picLocks noChangeAspect="1"/>
          </p:cNvPicPr>
          <p:nvPr/>
        </p:nvPicPr>
        <p:blipFill>
          <a:blip r:embed="rId5"/>
          <a:stretch>
            <a:fillRect/>
          </a:stretch>
        </p:blipFill>
        <p:spPr>
          <a:xfrm>
            <a:off x="662757" y="3762573"/>
            <a:ext cx="247254" cy="247254"/>
          </a:xfrm>
          <a:prstGeom prst="rect">
            <a:avLst/>
          </a:prstGeom>
        </p:spPr>
      </p:pic>
      <p:sp>
        <p:nvSpPr>
          <p:cNvPr id="14" name="Text 9"/>
          <p:cNvSpPr/>
          <p:nvPr/>
        </p:nvSpPr>
        <p:spPr>
          <a:xfrm>
            <a:off x="1234440" y="3630168"/>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Categorical encoding</a:t>
            </a:r>
            <a:endParaRPr lang="en-US" sz="1400" dirty="0"/>
          </a:p>
        </p:txBody>
      </p:sp>
      <p:sp>
        <p:nvSpPr>
          <p:cNvPr id="15" name="Text 10"/>
          <p:cNvSpPr/>
          <p:nvPr/>
        </p:nvSpPr>
        <p:spPr>
          <a:xfrm>
            <a:off x="1234440" y="3922776"/>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ocean_proximity encoded using One-Hot Encoding (5 categories) via sklearn's OneHotEncoder.</a:t>
            </a:r>
            <a:endParaRPr lang="en-US" sz="1100" dirty="0"/>
          </a:p>
        </p:txBody>
      </p:sp>
      <p:sp>
        <p:nvSpPr>
          <p:cNvPr id="16" name="Shape 11"/>
          <p:cNvSpPr/>
          <p:nvPr/>
        </p:nvSpPr>
        <p:spPr>
          <a:xfrm>
            <a:off x="548640" y="4672584"/>
            <a:ext cx="475488" cy="475488"/>
          </a:xfrm>
          <a:prstGeom prst="ellipse">
            <a:avLst/>
          </a:prstGeom>
          <a:solidFill>
            <a:srgbClr val="EAF1FB"/>
          </a:solidFill>
          <a:ln/>
        </p:spPr>
      </p:sp>
      <p:pic>
        <p:nvPicPr>
          <p:cNvPr id="17" name="Image 3" descr="/home/claude/ppt/icons/ruler_navy.png"/>
          <p:cNvPicPr>
            <a:picLocks noChangeAspect="1"/>
          </p:cNvPicPr>
          <p:nvPr/>
        </p:nvPicPr>
        <p:blipFill>
          <a:blip r:embed="rId6"/>
          <a:stretch>
            <a:fillRect/>
          </a:stretch>
        </p:blipFill>
        <p:spPr>
          <a:xfrm>
            <a:off x="662757" y="4786701"/>
            <a:ext cx="247254" cy="247254"/>
          </a:xfrm>
          <a:prstGeom prst="rect">
            <a:avLst/>
          </a:prstGeom>
        </p:spPr>
      </p:pic>
      <p:sp>
        <p:nvSpPr>
          <p:cNvPr id="18" name="Text 12"/>
          <p:cNvSpPr/>
          <p:nvPr/>
        </p:nvSpPr>
        <p:spPr>
          <a:xfrm>
            <a:off x="1234440" y="4654296"/>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Feature scaling</a:t>
            </a:r>
            <a:endParaRPr lang="en-US" sz="1400" dirty="0"/>
          </a:p>
        </p:txBody>
      </p:sp>
      <p:sp>
        <p:nvSpPr>
          <p:cNvPr id="19" name="Text 13"/>
          <p:cNvSpPr/>
          <p:nvPr/>
        </p:nvSpPr>
        <p:spPr>
          <a:xfrm>
            <a:off x="1234440" y="4946904"/>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All numerical features standardized with StandardScaler so no single feature dominates due to scale.</a:t>
            </a:r>
            <a:endParaRPr lang="en-US" sz="1100" dirty="0"/>
          </a:p>
        </p:txBody>
      </p:sp>
      <p:sp>
        <p:nvSpPr>
          <p:cNvPr id="20" name="Shape 14"/>
          <p:cNvSpPr/>
          <p:nvPr/>
        </p:nvSpPr>
        <p:spPr>
          <a:xfrm>
            <a:off x="8001000" y="1600200"/>
            <a:ext cx="3611880" cy="2834640"/>
          </a:xfrm>
          <a:prstGeom prst="roundRect">
            <a:avLst>
              <a:gd name="adj" fmla="val 3871"/>
            </a:avLst>
          </a:prstGeom>
          <a:solidFill>
            <a:srgbClr val="132A52"/>
          </a:solidFill>
          <a:ln/>
          <a:effectLst>
            <a:outerShdw blurRad="101600" dist="38100" dir="2700000" algn="bl" rotWithShape="0">
              <a:srgbClr val="0C1D3D">
                <a:alpha val="12000"/>
              </a:srgbClr>
            </a:outerShdw>
          </a:effectLst>
        </p:spPr>
      </p:sp>
      <p:sp>
        <p:nvSpPr>
          <p:cNvPr id="21" name="Text 15"/>
          <p:cNvSpPr/>
          <p:nvPr/>
        </p:nvSpPr>
        <p:spPr>
          <a:xfrm>
            <a:off x="8229600" y="1783080"/>
            <a:ext cx="3154680"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Built as a single scikit-learn Pipeline</a:t>
            </a:r>
            <a:endParaRPr lang="en-US" sz="1150" dirty="0"/>
          </a:p>
        </p:txBody>
      </p:sp>
      <p:sp>
        <p:nvSpPr>
          <p:cNvPr id="22" name="Shape 16"/>
          <p:cNvSpPr/>
          <p:nvPr/>
        </p:nvSpPr>
        <p:spPr>
          <a:xfrm>
            <a:off x="8275320" y="2286000"/>
            <a:ext cx="3063240" cy="384048"/>
          </a:xfrm>
          <a:prstGeom prst="roundRect">
            <a:avLst>
              <a:gd name="adj" fmla="val 16667"/>
            </a:avLst>
          </a:prstGeom>
          <a:solidFill>
            <a:srgbClr val="1E3A6B"/>
          </a:solidFill>
          <a:ln/>
        </p:spPr>
      </p:sp>
      <p:sp>
        <p:nvSpPr>
          <p:cNvPr id="23" name="Text 17"/>
          <p:cNvSpPr/>
          <p:nvPr/>
        </p:nvSpPr>
        <p:spPr>
          <a:xfrm>
            <a:off x="8275320" y="228600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Raw Data</a:t>
            </a:r>
            <a:endParaRPr lang="en-US" sz="1100" dirty="0"/>
          </a:p>
        </p:txBody>
      </p:sp>
      <p:pic>
        <p:nvPicPr>
          <p:cNvPr id="24" name="Image 4" descr="/home/claude/ppt/icons/arrow_down_navy.png"/>
          <p:cNvPicPr>
            <a:picLocks noChangeAspect="1"/>
          </p:cNvPicPr>
          <p:nvPr/>
        </p:nvPicPr>
        <p:blipFill>
          <a:blip r:embed="rId7"/>
          <a:stretch>
            <a:fillRect/>
          </a:stretch>
        </p:blipFill>
        <p:spPr>
          <a:xfrm>
            <a:off x="9724644" y="2688336"/>
            <a:ext cx="164592" cy="128016"/>
          </a:xfrm>
          <a:prstGeom prst="rect">
            <a:avLst/>
          </a:prstGeom>
        </p:spPr>
      </p:pic>
      <p:sp>
        <p:nvSpPr>
          <p:cNvPr id="25" name="Shape 18"/>
          <p:cNvSpPr/>
          <p:nvPr/>
        </p:nvSpPr>
        <p:spPr>
          <a:xfrm>
            <a:off x="8275320" y="2834640"/>
            <a:ext cx="3063240" cy="384048"/>
          </a:xfrm>
          <a:prstGeom prst="roundRect">
            <a:avLst>
              <a:gd name="adj" fmla="val 16667"/>
            </a:avLst>
          </a:prstGeom>
          <a:solidFill>
            <a:srgbClr val="1E3A6B"/>
          </a:solidFill>
          <a:ln/>
        </p:spPr>
      </p:sp>
      <p:sp>
        <p:nvSpPr>
          <p:cNvPr id="26" name="Text 19"/>
          <p:cNvSpPr/>
          <p:nvPr/>
        </p:nvSpPr>
        <p:spPr>
          <a:xfrm>
            <a:off x="8275320" y="283464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Impute</a:t>
            </a:r>
            <a:endParaRPr lang="en-US" sz="1100" dirty="0"/>
          </a:p>
        </p:txBody>
      </p:sp>
      <p:pic>
        <p:nvPicPr>
          <p:cNvPr id="27" name="Image 5" descr="/home/claude/ppt/icons/arrow_down_navy.png"/>
          <p:cNvPicPr>
            <a:picLocks noChangeAspect="1"/>
          </p:cNvPicPr>
          <p:nvPr/>
        </p:nvPicPr>
        <p:blipFill>
          <a:blip r:embed="rId7"/>
          <a:stretch>
            <a:fillRect/>
          </a:stretch>
        </p:blipFill>
        <p:spPr>
          <a:xfrm>
            <a:off x="9724644" y="3236976"/>
            <a:ext cx="164592" cy="128016"/>
          </a:xfrm>
          <a:prstGeom prst="rect">
            <a:avLst/>
          </a:prstGeom>
        </p:spPr>
      </p:pic>
      <p:sp>
        <p:nvSpPr>
          <p:cNvPr id="28" name="Shape 20"/>
          <p:cNvSpPr/>
          <p:nvPr/>
        </p:nvSpPr>
        <p:spPr>
          <a:xfrm>
            <a:off x="8275320" y="3383280"/>
            <a:ext cx="3063240" cy="384048"/>
          </a:xfrm>
          <a:prstGeom prst="roundRect">
            <a:avLst>
              <a:gd name="adj" fmla="val 16667"/>
            </a:avLst>
          </a:prstGeom>
          <a:solidFill>
            <a:srgbClr val="1E3A6B"/>
          </a:solidFill>
          <a:ln/>
        </p:spPr>
      </p:sp>
      <p:sp>
        <p:nvSpPr>
          <p:cNvPr id="29" name="Text 21"/>
          <p:cNvSpPr/>
          <p:nvPr/>
        </p:nvSpPr>
        <p:spPr>
          <a:xfrm>
            <a:off x="8275320" y="338328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Scale / Encode</a:t>
            </a:r>
            <a:endParaRPr lang="en-US" sz="1100" dirty="0"/>
          </a:p>
        </p:txBody>
      </p:sp>
      <p:pic>
        <p:nvPicPr>
          <p:cNvPr id="30" name="Image 6" descr="/home/claude/ppt/icons/arrow_down_navy.png"/>
          <p:cNvPicPr>
            <a:picLocks noChangeAspect="1"/>
          </p:cNvPicPr>
          <p:nvPr/>
        </p:nvPicPr>
        <p:blipFill>
          <a:blip r:embed="rId7"/>
          <a:stretch>
            <a:fillRect/>
          </a:stretch>
        </p:blipFill>
        <p:spPr>
          <a:xfrm>
            <a:off x="9724644" y="3785616"/>
            <a:ext cx="164592" cy="128016"/>
          </a:xfrm>
          <a:prstGeom prst="rect">
            <a:avLst/>
          </a:prstGeom>
        </p:spPr>
      </p:pic>
      <p:sp>
        <p:nvSpPr>
          <p:cNvPr id="31" name="Shape 22"/>
          <p:cNvSpPr/>
          <p:nvPr/>
        </p:nvSpPr>
        <p:spPr>
          <a:xfrm>
            <a:off x="8275320" y="3931920"/>
            <a:ext cx="3063240" cy="384048"/>
          </a:xfrm>
          <a:prstGeom prst="roundRect">
            <a:avLst>
              <a:gd name="adj" fmla="val 16667"/>
            </a:avLst>
          </a:prstGeom>
          <a:solidFill>
            <a:srgbClr val="1E3A6B"/>
          </a:solidFill>
          <a:ln/>
        </p:spPr>
      </p:sp>
      <p:sp>
        <p:nvSpPr>
          <p:cNvPr id="32" name="Text 23"/>
          <p:cNvSpPr/>
          <p:nvPr/>
        </p:nvSpPr>
        <p:spPr>
          <a:xfrm>
            <a:off x="8275320" y="393192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Model-Ready Data</a:t>
            </a:r>
            <a:endParaRPr lang="en-US" sz="1100" dirty="0"/>
          </a:p>
        </p:txBody>
      </p:sp>
      <p:sp>
        <p:nvSpPr>
          <p:cNvPr id="33" name="Shape 24"/>
          <p:cNvSpPr/>
          <p:nvPr/>
        </p:nvSpPr>
        <p:spPr>
          <a:xfrm>
            <a:off x="8001000" y="4617720"/>
            <a:ext cx="3611880" cy="1188720"/>
          </a:xfrm>
          <a:prstGeom prst="roundRect">
            <a:avLst>
              <a:gd name="adj" fmla="val 9231"/>
            </a:avLst>
          </a:prstGeom>
          <a:solidFill>
            <a:srgbClr val="FFFFFF"/>
          </a:solidFill>
          <a:ln/>
          <a:effectLst>
            <a:outerShdw blurRad="101600" dist="38100" dir="2700000" algn="bl" rotWithShape="0">
              <a:srgbClr val="0C1D3D">
                <a:alpha val="12000"/>
              </a:srgbClr>
            </a:outerShdw>
          </a:effectLst>
        </p:spPr>
      </p:sp>
      <p:sp>
        <p:nvSpPr>
          <p:cNvPr id="34" name="Text 25"/>
          <p:cNvSpPr/>
          <p:nvPr/>
        </p:nvSpPr>
        <p:spPr>
          <a:xfrm>
            <a:off x="8229600" y="4754880"/>
            <a:ext cx="3200400" cy="274320"/>
          </a:xfrm>
          <a:prstGeom prst="rect">
            <a:avLst/>
          </a:prstGeom>
          <a:noFill/>
          <a:ln/>
        </p:spPr>
        <p:txBody>
          <a:bodyPr wrap="square" lIns="0" tIns="0" rIns="0" bIns="0" rtlCol="0" anchor="ctr"/>
          <a:lstStyle/>
          <a:p>
            <a:pPr marL="0" indent="0">
              <a:buNone/>
            </a:pPr>
            <a:r>
              <a:rPr lang="en-US" sz="1200" b="1" dirty="0">
                <a:solidFill>
                  <a:srgbClr val="132A52"/>
                </a:solidFill>
                <a:latin typeface="Calibri" pitchFamily="34" charset="0"/>
                <a:ea typeface="Calibri" pitchFamily="34" charset="-122"/>
                <a:cs typeface="Calibri" pitchFamily="34" charset="-120"/>
              </a:rPr>
              <a:t>80 / 20 Train-Test Split</a:t>
            </a:r>
            <a:endParaRPr lang="en-US" sz="1200" dirty="0"/>
          </a:p>
        </p:txBody>
      </p:sp>
      <p:sp>
        <p:nvSpPr>
          <p:cNvPr id="35" name="Text 26"/>
          <p:cNvSpPr/>
          <p:nvPr/>
        </p:nvSpPr>
        <p:spPr>
          <a:xfrm>
            <a:off x="8229600" y="5074920"/>
            <a:ext cx="3200400" cy="54864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16,512 training rows   ·   4,128 test rows</a:t>
            </a:r>
            <a:endParaRPr lang="en-US" sz="1100" dirty="0"/>
          </a:p>
        </p:txBody>
      </p:sp>
      <p:sp>
        <p:nvSpPr>
          <p:cNvPr id="36" name="Text 27"/>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37" name="Shape 28"/>
          <p:cNvSpPr/>
          <p:nvPr/>
        </p:nvSpPr>
        <p:spPr>
          <a:xfrm>
            <a:off x="11503152" y="6172200"/>
            <a:ext cx="384048" cy="384048"/>
          </a:xfrm>
          <a:prstGeom prst="ellipse">
            <a:avLst/>
          </a:prstGeom>
          <a:solidFill>
            <a:srgbClr val="132A52"/>
          </a:solidFill>
          <a:ln/>
        </p:spPr>
      </p:sp>
      <p:sp>
        <p:nvSpPr>
          <p:cNvPr id="38" name="Text 29"/>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EXPLORATORY ANALYSIS</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Exploratory Data Analysis (EDA)</a:t>
            </a:r>
            <a:endParaRPr lang="en-US" sz="3000" dirty="0"/>
          </a:p>
        </p:txBody>
      </p:sp>
      <p:sp>
        <p:nvSpPr>
          <p:cNvPr id="4" name="Shape 2"/>
          <p:cNvSpPr/>
          <p:nvPr/>
        </p:nvSpPr>
        <p:spPr>
          <a:xfrm>
            <a:off x="548640" y="1554480"/>
            <a:ext cx="5486400" cy="3063240"/>
          </a:xfrm>
          <a:prstGeom prst="roundRect">
            <a:avLst>
              <a:gd name="adj" fmla="val 2985"/>
            </a:avLst>
          </a:prstGeom>
          <a:solidFill>
            <a:srgbClr val="FFFFFF"/>
          </a:solidFill>
          <a:ln/>
          <a:effectLst>
            <a:outerShdw blurRad="101600" dist="38100" dir="2700000" algn="bl" rotWithShape="0">
              <a:srgbClr val="0C1D3D">
                <a:alpha val="12000"/>
              </a:srgbClr>
            </a:outerShdw>
          </a:effectLst>
        </p:spPr>
      </p:sp>
      <p:pic>
        <p:nvPicPr>
          <p:cNvPr id="5" name="Image 0" descr="/home/claude/nb_images/correlation_heatmap.png"/>
          <p:cNvPicPr>
            <a:picLocks noChangeAspect="1"/>
          </p:cNvPicPr>
          <p:nvPr/>
        </p:nvPicPr>
        <p:blipFill>
          <a:blip r:embed="rId3"/>
          <a:stretch>
            <a:fillRect/>
          </a:stretch>
        </p:blipFill>
        <p:spPr>
          <a:xfrm>
            <a:off x="685800" y="1691640"/>
            <a:ext cx="5212080" cy="2081491"/>
          </a:xfrm>
          <a:prstGeom prst="rect">
            <a:avLst/>
          </a:prstGeom>
        </p:spPr>
      </p:pic>
      <p:sp>
        <p:nvSpPr>
          <p:cNvPr id="6" name="Text 3"/>
          <p:cNvSpPr/>
          <p:nvPr/>
        </p:nvSpPr>
        <p:spPr>
          <a:xfrm>
            <a:off x="685800" y="4251960"/>
            <a:ext cx="521208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Correlation heatmap across numerical features</a:t>
            </a:r>
            <a:endParaRPr lang="en-US" sz="1000" dirty="0"/>
          </a:p>
        </p:txBody>
      </p:sp>
      <p:sp>
        <p:nvSpPr>
          <p:cNvPr id="7" name="Shape 4"/>
          <p:cNvSpPr/>
          <p:nvPr/>
        </p:nvSpPr>
        <p:spPr>
          <a:xfrm>
            <a:off x="6263640" y="1554480"/>
            <a:ext cx="5394960" cy="3063240"/>
          </a:xfrm>
          <a:prstGeom prst="roundRect">
            <a:avLst>
              <a:gd name="adj" fmla="val 2985"/>
            </a:avLst>
          </a:prstGeom>
          <a:solidFill>
            <a:srgbClr val="FFFFFF"/>
          </a:solidFill>
          <a:ln/>
          <a:effectLst>
            <a:outerShdw blurRad="101600" dist="38100" dir="2700000" algn="bl" rotWithShape="0">
              <a:srgbClr val="0C1D3D">
                <a:alpha val="12000"/>
              </a:srgbClr>
            </a:outerShdw>
          </a:effectLst>
        </p:spPr>
      </p:sp>
      <p:pic>
        <p:nvPicPr>
          <p:cNvPr id="8" name="Image 1" descr="/home/claude/nb_images/target_distribution.png"/>
          <p:cNvPicPr>
            <a:picLocks noChangeAspect="1"/>
          </p:cNvPicPr>
          <p:nvPr/>
        </p:nvPicPr>
        <p:blipFill>
          <a:blip r:embed="rId4"/>
          <a:stretch>
            <a:fillRect/>
          </a:stretch>
        </p:blipFill>
        <p:spPr>
          <a:xfrm>
            <a:off x="6400800" y="1691640"/>
            <a:ext cx="5120640" cy="1879576"/>
          </a:xfrm>
          <a:prstGeom prst="rect">
            <a:avLst/>
          </a:prstGeom>
        </p:spPr>
      </p:pic>
      <p:sp>
        <p:nvSpPr>
          <p:cNvPr id="9" name="Text 5"/>
          <p:cNvSpPr/>
          <p:nvPr/>
        </p:nvSpPr>
        <p:spPr>
          <a:xfrm>
            <a:off x="6400800" y="3794760"/>
            <a:ext cx="512064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Distribution of median_house_value (target)</a:t>
            </a:r>
            <a:endParaRPr lang="en-US" sz="1000" dirty="0"/>
          </a:p>
        </p:txBody>
      </p:sp>
      <p:sp>
        <p:nvSpPr>
          <p:cNvPr id="10" name="Text 6"/>
          <p:cNvSpPr/>
          <p:nvPr/>
        </p:nvSpPr>
        <p:spPr>
          <a:xfrm>
            <a:off x="548640" y="4892040"/>
            <a:ext cx="3657600" cy="274320"/>
          </a:xfrm>
          <a:prstGeom prst="rect">
            <a:avLst/>
          </a:prstGeom>
          <a:noFill/>
          <a:ln/>
        </p:spPr>
        <p:txBody>
          <a:bodyPr wrap="square" lIns="0" tIns="0" rIns="0" bIns="0" rtlCol="0" anchor="ctr"/>
          <a:lstStyle/>
          <a:p>
            <a:pPr marL="0" indent="0">
              <a:buNone/>
            </a:pPr>
            <a:r>
              <a:rPr lang="en-US" sz="1300" b="1" dirty="0">
                <a:solidFill>
                  <a:srgbClr val="132A52"/>
                </a:solidFill>
                <a:latin typeface="Calibri" pitchFamily="34" charset="0"/>
                <a:ea typeface="Calibri" pitchFamily="34" charset="-122"/>
                <a:cs typeface="Calibri" pitchFamily="34" charset="-120"/>
              </a:rPr>
              <a:t>Key Insights</a:t>
            </a:r>
            <a:endParaRPr lang="en-US" sz="1300" dirty="0"/>
          </a:p>
        </p:txBody>
      </p:sp>
      <p:sp>
        <p:nvSpPr>
          <p:cNvPr id="11" name="Text 7"/>
          <p:cNvSpPr/>
          <p:nvPr/>
        </p:nvSpPr>
        <p:spPr>
          <a:xfrm>
            <a:off x="548640" y="5193792"/>
            <a:ext cx="10789920" cy="914400"/>
          </a:xfrm>
          <a:prstGeom prst="rect">
            <a:avLst/>
          </a:prstGeom>
          <a:noFill/>
          <a:ln/>
        </p:spPr>
        <p:txBody>
          <a:bodyPr wrap="square" lIns="0" tIns="0" rIns="0" bIns="0" rtlCol="0" anchor="ctr"/>
          <a:lstStyle/>
          <a:p>
            <a:pPr marL="342900" indent="-342900">
              <a:buSzPct val="100000"/>
              <a:buChar char="•"/>
            </a:pPr>
            <a:r>
              <a:rPr lang="en-US" sz="1150" dirty="0">
                <a:solidFill>
                  <a:srgbClr val="5C6B85"/>
                </a:solidFill>
                <a:latin typeface="Calibri" pitchFamily="34" charset="0"/>
                <a:ea typeface="Calibri" pitchFamily="34" charset="-122"/>
                <a:cs typeface="Calibri" pitchFamily="34" charset="-120"/>
              </a:rPr>
              <a:t>median_income shows the strongest correlation with price (r = 0.688)</a:t>
            </a:r>
            <a:endParaRPr lang="en-US" sz="1150" dirty="0"/>
          </a:p>
          <a:p>
            <a:pPr marL="342900" indent="-342900">
              <a:buSzPct val="100000"/>
              <a:buChar char="•"/>
            </a:pPr>
            <a:r>
              <a:rPr lang="en-US" sz="1150" dirty="0">
                <a:solidFill>
                  <a:srgbClr val="5C6B85"/>
                </a:solidFill>
                <a:latin typeface="Calibri" pitchFamily="34" charset="0"/>
                <a:ea typeface="Calibri" pitchFamily="34" charset="-122"/>
                <a:cs typeface="Calibri" pitchFamily="34" charset="-120"/>
              </a:rPr>
              <a:t>Target variable is right-skewed with a visible price cap near $500,001</a:t>
            </a:r>
            <a:endParaRPr lang="en-US" sz="1150" dirty="0"/>
          </a:p>
          <a:p>
            <a:pPr marL="342900" indent="-342900">
              <a:buSzPct val="100000"/>
              <a:buChar char="•"/>
            </a:pPr>
            <a:r>
              <a:rPr lang="en-US" sz="1150" dirty="0">
                <a:solidFill>
                  <a:srgbClr val="5C6B85"/>
                </a:solidFill>
                <a:latin typeface="Calibri" pitchFamily="34" charset="0"/>
                <a:ea typeface="Calibri" pitchFamily="34" charset="-122"/>
                <a:cs typeface="Calibri" pitchFamily="34" charset="-120"/>
              </a:rPr>
              <a:t>latitude shows a weak negative correlation (r = -0.144); most other features are weakly correlated</a:t>
            </a:r>
            <a:endParaRPr lang="en-US" sz="1150" dirty="0"/>
          </a:p>
        </p:txBody>
      </p:sp>
      <p:sp>
        <p:nvSpPr>
          <p:cNvPr id="12" name="Text 8"/>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13" name="Shape 9"/>
          <p:cNvSpPr/>
          <p:nvPr/>
        </p:nvSpPr>
        <p:spPr>
          <a:xfrm>
            <a:off x="11503152" y="6172200"/>
            <a:ext cx="384048" cy="384048"/>
          </a:xfrm>
          <a:prstGeom prst="ellipse">
            <a:avLst/>
          </a:prstGeom>
          <a:solidFill>
            <a:srgbClr val="132A52"/>
          </a:solidFill>
          <a:ln/>
        </p:spPr>
      </p:sp>
      <p:sp>
        <p:nvSpPr>
          <p:cNvPr id="14" name="Text 10"/>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ALGORITHMS</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Regression Models</a:t>
            </a:r>
            <a:endParaRPr lang="en-US" sz="3000" dirty="0"/>
          </a:p>
        </p:txBody>
      </p:sp>
      <p:sp>
        <p:nvSpPr>
          <p:cNvPr id="4" name="Shape 2"/>
          <p:cNvSpPr/>
          <p:nvPr/>
        </p:nvSpPr>
        <p:spPr>
          <a:xfrm>
            <a:off x="548640" y="1600200"/>
            <a:ext cx="3520440" cy="3749040"/>
          </a:xfrm>
          <a:prstGeom prst="roundRect">
            <a:avLst>
              <a:gd name="adj" fmla="val 3117"/>
            </a:avLst>
          </a:prstGeom>
          <a:solidFill>
            <a:srgbClr val="FFFFFF"/>
          </a:solidFill>
          <a:ln/>
          <a:effectLst>
            <a:outerShdw blurRad="101600" dist="38100" dir="2700000" algn="bl" rotWithShape="0">
              <a:srgbClr val="0C1D3D">
                <a:alpha val="12000"/>
              </a:srgbClr>
            </a:outerShdw>
          </a:effectLst>
        </p:spPr>
      </p:sp>
      <p:sp>
        <p:nvSpPr>
          <p:cNvPr id="5" name="Shape 3"/>
          <p:cNvSpPr/>
          <p:nvPr/>
        </p:nvSpPr>
        <p:spPr>
          <a:xfrm>
            <a:off x="822960" y="1874520"/>
            <a:ext cx="548640" cy="548640"/>
          </a:xfrm>
          <a:prstGeom prst="ellipse">
            <a:avLst/>
          </a:prstGeom>
          <a:solidFill>
            <a:srgbClr val="EAF1FB"/>
          </a:solidFill>
          <a:ln/>
        </p:spPr>
      </p:sp>
      <p:pic>
        <p:nvPicPr>
          <p:cNvPr id="6" name="Image 0" descr="/home/claude/ppt/icons/chart_line_white.png"/>
          <p:cNvPicPr>
            <a:picLocks noChangeAspect="1"/>
          </p:cNvPicPr>
          <p:nvPr/>
        </p:nvPicPr>
        <p:blipFill>
          <a:blip r:embed="rId3"/>
          <a:stretch>
            <a:fillRect/>
          </a:stretch>
        </p:blipFill>
        <p:spPr>
          <a:xfrm>
            <a:off x="954634" y="2006194"/>
            <a:ext cx="285293" cy="285293"/>
          </a:xfrm>
          <a:prstGeom prst="rect">
            <a:avLst/>
          </a:prstGeom>
        </p:spPr>
      </p:pic>
      <p:sp>
        <p:nvSpPr>
          <p:cNvPr id="7" name="Text 4"/>
          <p:cNvSpPr/>
          <p:nvPr/>
        </p:nvSpPr>
        <p:spPr>
          <a:xfrm>
            <a:off x="822960" y="2560320"/>
            <a:ext cx="2971800" cy="365760"/>
          </a:xfrm>
          <a:prstGeom prst="rect">
            <a:avLst/>
          </a:prstGeom>
          <a:noFill/>
          <a:ln/>
        </p:spPr>
        <p:txBody>
          <a:bodyPr wrap="square" lIns="0" tIns="0" rIns="0" bIns="0" rtlCol="0" anchor="ctr"/>
          <a:lstStyle/>
          <a:p>
            <a:pPr marL="0" indent="0">
              <a:buNone/>
            </a:pPr>
            <a:r>
              <a:rPr lang="en-US" sz="1600" b="1" dirty="0">
                <a:solidFill>
                  <a:srgbClr val="132A52"/>
                </a:solidFill>
                <a:latin typeface="Cambria" pitchFamily="34" charset="0"/>
                <a:ea typeface="Cambria" pitchFamily="34" charset="-122"/>
                <a:cs typeface="Cambria" pitchFamily="34" charset="-120"/>
              </a:rPr>
              <a:t>Linear Regression</a:t>
            </a:r>
            <a:endParaRPr lang="en-US" sz="1600" dirty="0"/>
          </a:p>
        </p:txBody>
      </p:sp>
      <p:sp>
        <p:nvSpPr>
          <p:cNvPr id="8" name="Text 5"/>
          <p:cNvSpPr/>
          <p:nvPr/>
        </p:nvSpPr>
        <p:spPr>
          <a:xfrm>
            <a:off x="822960" y="2971800"/>
            <a:ext cx="2971800" cy="68580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Fits a straight-line relationship between features and price.</a:t>
            </a:r>
            <a:endParaRPr lang="en-US" sz="1050" dirty="0"/>
          </a:p>
        </p:txBody>
      </p:sp>
      <p:sp>
        <p:nvSpPr>
          <p:cNvPr id="9" name="Text 6"/>
          <p:cNvSpPr/>
          <p:nvPr/>
        </p:nvSpPr>
        <p:spPr>
          <a:xfrm>
            <a:off x="822960" y="3749040"/>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WHY CHOSEN</a:t>
            </a:r>
            <a:endParaRPr lang="en-US" sz="850" dirty="0"/>
          </a:p>
        </p:txBody>
      </p:sp>
      <p:sp>
        <p:nvSpPr>
          <p:cNvPr id="10" name="Text 7"/>
          <p:cNvSpPr/>
          <p:nvPr/>
        </p:nvSpPr>
        <p:spPr>
          <a:xfrm>
            <a:off x="822960" y="3931920"/>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Simple, fast, interpretable baseline.</a:t>
            </a:r>
            <a:endParaRPr lang="en-US" sz="1000" dirty="0"/>
          </a:p>
        </p:txBody>
      </p:sp>
      <p:sp>
        <p:nvSpPr>
          <p:cNvPr id="11" name="Text 8"/>
          <p:cNvSpPr/>
          <p:nvPr/>
        </p:nvSpPr>
        <p:spPr>
          <a:xfrm>
            <a:off x="822960" y="4315968"/>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ADVANTAGE</a:t>
            </a:r>
            <a:endParaRPr lang="en-US" sz="850" dirty="0"/>
          </a:p>
        </p:txBody>
      </p:sp>
      <p:sp>
        <p:nvSpPr>
          <p:cNvPr id="12" name="Text 9"/>
          <p:cNvSpPr/>
          <p:nvPr/>
        </p:nvSpPr>
        <p:spPr>
          <a:xfrm>
            <a:off x="822960" y="4498848"/>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Easy to explain; low compute cost.</a:t>
            </a:r>
            <a:endParaRPr lang="en-US" sz="1000" dirty="0"/>
          </a:p>
        </p:txBody>
      </p:sp>
      <p:sp>
        <p:nvSpPr>
          <p:cNvPr id="13" name="Text 10"/>
          <p:cNvSpPr/>
          <p:nvPr/>
        </p:nvSpPr>
        <p:spPr>
          <a:xfrm>
            <a:off x="822960" y="4882896"/>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LIMITATION</a:t>
            </a:r>
            <a:endParaRPr lang="en-US" sz="850" dirty="0"/>
          </a:p>
        </p:txBody>
      </p:sp>
      <p:sp>
        <p:nvSpPr>
          <p:cNvPr id="14" name="Text 11"/>
          <p:cNvSpPr/>
          <p:nvPr/>
        </p:nvSpPr>
        <p:spPr>
          <a:xfrm>
            <a:off x="822960" y="5065776"/>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Misses non-linear patterns in the data.</a:t>
            </a:r>
            <a:endParaRPr lang="en-US" sz="1000" dirty="0"/>
          </a:p>
        </p:txBody>
      </p:sp>
      <p:sp>
        <p:nvSpPr>
          <p:cNvPr id="15" name="Shape 12"/>
          <p:cNvSpPr/>
          <p:nvPr/>
        </p:nvSpPr>
        <p:spPr>
          <a:xfrm>
            <a:off x="4297680" y="1600200"/>
            <a:ext cx="3520440" cy="3749040"/>
          </a:xfrm>
          <a:prstGeom prst="roundRect">
            <a:avLst>
              <a:gd name="adj" fmla="val 3117"/>
            </a:avLst>
          </a:prstGeom>
          <a:solidFill>
            <a:srgbClr val="FFFFFF"/>
          </a:solidFill>
          <a:ln/>
          <a:effectLst>
            <a:outerShdw blurRad="101600" dist="38100" dir="2700000" algn="bl" rotWithShape="0">
              <a:srgbClr val="0C1D3D">
                <a:alpha val="12000"/>
              </a:srgbClr>
            </a:outerShdw>
          </a:effectLst>
        </p:spPr>
      </p:sp>
      <p:sp>
        <p:nvSpPr>
          <p:cNvPr id="16" name="Shape 13"/>
          <p:cNvSpPr/>
          <p:nvPr/>
        </p:nvSpPr>
        <p:spPr>
          <a:xfrm>
            <a:off x="4572000" y="1874520"/>
            <a:ext cx="548640" cy="548640"/>
          </a:xfrm>
          <a:prstGeom prst="ellipse">
            <a:avLst/>
          </a:prstGeom>
          <a:solidFill>
            <a:srgbClr val="EAF1FB"/>
          </a:solidFill>
          <a:ln/>
        </p:spPr>
      </p:sp>
      <p:pic>
        <p:nvPicPr>
          <p:cNvPr id="17" name="Image 1" descr="/home/claude/ppt/icons/sitemap_navy.png"/>
          <p:cNvPicPr>
            <a:picLocks noChangeAspect="1"/>
          </p:cNvPicPr>
          <p:nvPr/>
        </p:nvPicPr>
        <p:blipFill>
          <a:blip r:embed="rId4"/>
          <a:stretch>
            <a:fillRect/>
          </a:stretch>
        </p:blipFill>
        <p:spPr>
          <a:xfrm>
            <a:off x="4703674" y="2006194"/>
            <a:ext cx="285293" cy="285293"/>
          </a:xfrm>
          <a:prstGeom prst="rect">
            <a:avLst/>
          </a:prstGeom>
        </p:spPr>
      </p:pic>
      <p:sp>
        <p:nvSpPr>
          <p:cNvPr id="18" name="Text 14"/>
          <p:cNvSpPr/>
          <p:nvPr/>
        </p:nvSpPr>
        <p:spPr>
          <a:xfrm>
            <a:off x="4572000" y="2560320"/>
            <a:ext cx="2971800" cy="365760"/>
          </a:xfrm>
          <a:prstGeom prst="rect">
            <a:avLst/>
          </a:prstGeom>
          <a:noFill/>
          <a:ln/>
        </p:spPr>
        <p:txBody>
          <a:bodyPr wrap="square" lIns="0" tIns="0" rIns="0" bIns="0" rtlCol="0" anchor="ctr"/>
          <a:lstStyle/>
          <a:p>
            <a:pPr marL="0" indent="0">
              <a:buNone/>
            </a:pPr>
            <a:r>
              <a:rPr lang="en-US" sz="1600" b="1" dirty="0">
                <a:solidFill>
                  <a:srgbClr val="132A52"/>
                </a:solidFill>
                <a:latin typeface="Cambria" pitchFamily="34" charset="0"/>
                <a:ea typeface="Cambria" pitchFamily="34" charset="-122"/>
                <a:cs typeface="Cambria" pitchFamily="34" charset="-120"/>
              </a:rPr>
              <a:t>Random Forest</a:t>
            </a:r>
            <a:endParaRPr lang="en-US" sz="1600" dirty="0"/>
          </a:p>
        </p:txBody>
      </p:sp>
      <p:sp>
        <p:nvSpPr>
          <p:cNvPr id="19" name="Text 15"/>
          <p:cNvSpPr/>
          <p:nvPr/>
        </p:nvSpPr>
        <p:spPr>
          <a:xfrm>
            <a:off x="4572000" y="2971800"/>
            <a:ext cx="2971800" cy="68580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An ensemble of 100 decision trees averaging their predictions.</a:t>
            </a:r>
            <a:endParaRPr lang="en-US" sz="1050" dirty="0"/>
          </a:p>
        </p:txBody>
      </p:sp>
      <p:sp>
        <p:nvSpPr>
          <p:cNvPr id="20" name="Text 16"/>
          <p:cNvSpPr/>
          <p:nvPr/>
        </p:nvSpPr>
        <p:spPr>
          <a:xfrm>
            <a:off x="4572000" y="3749040"/>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WHY CHOSEN</a:t>
            </a:r>
            <a:endParaRPr lang="en-US" sz="850" dirty="0"/>
          </a:p>
        </p:txBody>
      </p:sp>
      <p:sp>
        <p:nvSpPr>
          <p:cNvPr id="21" name="Text 17"/>
          <p:cNvSpPr/>
          <p:nvPr/>
        </p:nvSpPr>
        <p:spPr>
          <a:xfrm>
            <a:off x="4572000" y="3931920"/>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Captures non-linearity and feature interactions.</a:t>
            </a:r>
            <a:endParaRPr lang="en-US" sz="1000" dirty="0"/>
          </a:p>
        </p:txBody>
      </p:sp>
      <p:sp>
        <p:nvSpPr>
          <p:cNvPr id="22" name="Text 18"/>
          <p:cNvSpPr/>
          <p:nvPr/>
        </p:nvSpPr>
        <p:spPr>
          <a:xfrm>
            <a:off x="4572000" y="4315968"/>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ADVANTAGE</a:t>
            </a:r>
            <a:endParaRPr lang="en-US" sz="850" dirty="0"/>
          </a:p>
        </p:txBody>
      </p:sp>
      <p:sp>
        <p:nvSpPr>
          <p:cNvPr id="23" name="Text 19"/>
          <p:cNvSpPr/>
          <p:nvPr/>
        </p:nvSpPr>
        <p:spPr>
          <a:xfrm>
            <a:off x="4572000" y="4498848"/>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Robust to outliers; strong accuracy.</a:t>
            </a:r>
            <a:endParaRPr lang="en-US" sz="1000" dirty="0"/>
          </a:p>
        </p:txBody>
      </p:sp>
      <p:sp>
        <p:nvSpPr>
          <p:cNvPr id="24" name="Text 20"/>
          <p:cNvSpPr/>
          <p:nvPr/>
        </p:nvSpPr>
        <p:spPr>
          <a:xfrm>
            <a:off x="4572000" y="4882896"/>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LIMITATION</a:t>
            </a:r>
            <a:endParaRPr lang="en-US" sz="850" dirty="0"/>
          </a:p>
        </p:txBody>
      </p:sp>
      <p:sp>
        <p:nvSpPr>
          <p:cNvPr id="25" name="Text 21"/>
          <p:cNvSpPr/>
          <p:nvPr/>
        </p:nvSpPr>
        <p:spPr>
          <a:xfrm>
            <a:off x="4572000" y="5065776"/>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Larger model; less interpretable.</a:t>
            </a:r>
            <a:endParaRPr lang="en-US" sz="1000" dirty="0"/>
          </a:p>
        </p:txBody>
      </p:sp>
      <p:sp>
        <p:nvSpPr>
          <p:cNvPr id="26" name="Shape 22"/>
          <p:cNvSpPr/>
          <p:nvPr/>
        </p:nvSpPr>
        <p:spPr>
          <a:xfrm>
            <a:off x="8046720" y="1600200"/>
            <a:ext cx="3520440" cy="3749040"/>
          </a:xfrm>
          <a:prstGeom prst="roundRect">
            <a:avLst>
              <a:gd name="adj" fmla="val 3117"/>
            </a:avLst>
          </a:prstGeom>
          <a:solidFill>
            <a:srgbClr val="132A52"/>
          </a:solidFill>
          <a:ln/>
          <a:effectLst>
            <a:outerShdw blurRad="101600" dist="38100" dir="2700000" algn="bl" rotWithShape="0">
              <a:srgbClr val="0C1D3D">
                <a:alpha val="12000"/>
              </a:srgbClr>
            </a:outerShdw>
          </a:effectLst>
        </p:spPr>
      </p:sp>
      <p:sp>
        <p:nvSpPr>
          <p:cNvPr id="27" name="Shape 23"/>
          <p:cNvSpPr/>
          <p:nvPr/>
        </p:nvSpPr>
        <p:spPr>
          <a:xfrm>
            <a:off x="8321040" y="1874520"/>
            <a:ext cx="548640" cy="548640"/>
          </a:xfrm>
          <a:prstGeom prst="ellipse">
            <a:avLst/>
          </a:prstGeom>
          <a:solidFill>
            <a:srgbClr val="1E3A6B"/>
          </a:solidFill>
          <a:ln/>
        </p:spPr>
      </p:sp>
      <p:pic>
        <p:nvPicPr>
          <p:cNvPr id="28" name="Image 2" descr="/home/claude/ppt/icons/boltnavy.png"/>
          <p:cNvPicPr>
            <a:picLocks noChangeAspect="1"/>
          </p:cNvPicPr>
          <p:nvPr/>
        </p:nvPicPr>
        <p:blipFill>
          <a:blip r:embed="rId5"/>
          <a:stretch>
            <a:fillRect/>
          </a:stretch>
        </p:blipFill>
        <p:spPr>
          <a:xfrm>
            <a:off x="8452714" y="2006194"/>
            <a:ext cx="285293" cy="285293"/>
          </a:xfrm>
          <a:prstGeom prst="rect">
            <a:avLst/>
          </a:prstGeom>
        </p:spPr>
      </p:pic>
      <p:sp>
        <p:nvSpPr>
          <p:cNvPr id="29" name="Text 24"/>
          <p:cNvSpPr/>
          <p:nvPr/>
        </p:nvSpPr>
        <p:spPr>
          <a:xfrm>
            <a:off x="8321040" y="2560320"/>
            <a:ext cx="29718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XGBoost</a:t>
            </a:r>
            <a:endParaRPr lang="en-US" sz="1600" dirty="0"/>
          </a:p>
        </p:txBody>
      </p:sp>
      <p:sp>
        <p:nvSpPr>
          <p:cNvPr id="30" name="Text 25"/>
          <p:cNvSpPr/>
          <p:nvPr/>
        </p:nvSpPr>
        <p:spPr>
          <a:xfrm>
            <a:off x="8321040" y="2971800"/>
            <a:ext cx="2971800" cy="685800"/>
          </a:xfrm>
          <a:prstGeom prst="rect">
            <a:avLst/>
          </a:prstGeom>
          <a:noFill/>
          <a:ln/>
        </p:spPr>
        <p:txBody>
          <a:bodyPr wrap="square" lIns="0" tIns="0" rIns="0" bIns="0" rtlCol="0" anchor="ctr"/>
          <a:lstStyle/>
          <a:p>
            <a:pPr marL="0" indent="0">
              <a:buNone/>
            </a:pPr>
            <a:r>
              <a:rPr lang="en-US" sz="1050" dirty="0">
                <a:solidFill>
                  <a:srgbClr val="AFD0EF"/>
                </a:solidFill>
                <a:latin typeface="Calibri" pitchFamily="34" charset="0"/>
                <a:ea typeface="Calibri" pitchFamily="34" charset="-122"/>
                <a:cs typeface="Calibri" pitchFamily="34" charset="-120"/>
              </a:rPr>
              <a:t>Gradient-boosted trees (100 trees, depth 6) built sequentially to correct prior errors.</a:t>
            </a:r>
            <a:endParaRPr lang="en-US" sz="1050" dirty="0"/>
          </a:p>
        </p:txBody>
      </p:sp>
      <p:sp>
        <p:nvSpPr>
          <p:cNvPr id="31" name="Text 26"/>
          <p:cNvSpPr/>
          <p:nvPr/>
        </p:nvSpPr>
        <p:spPr>
          <a:xfrm>
            <a:off x="8321040" y="3749040"/>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WHY CHOSEN</a:t>
            </a:r>
            <a:endParaRPr lang="en-US" sz="850" dirty="0"/>
          </a:p>
        </p:txBody>
      </p:sp>
      <p:sp>
        <p:nvSpPr>
          <p:cNvPr id="32" name="Text 27"/>
          <p:cNvSpPr/>
          <p:nvPr/>
        </p:nvSpPr>
        <p:spPr>
          <a:xfrm>
            <a:off x="8321040" y="3931920"/>
            <a:ext cx="2971800" cy="4114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State-of-the-art accuracy on tabular data.</a:t>
            </a:r>
            <a:endParaRPr lang="en-US" sz="1000" dirty="0"/>
          </a:p>
        </p:txBody>
      </p:sp>
      <p:sp>
        <p:nvSpPr>
          <p:cNvPr id="33" name="Text 28"/>
          <p:cNvSpPr/>
          <p:nvPr/>
        </p:nvSpPr>
        <p:spPr>
          <a:xfrm>
            <a:off x="8321040" y="4315968"/>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ADVANTAGE</a:t>
            </a:r>
            <a:endParaRPr lang="en-US" sz="850" dirty="0"/>
          </a:p>
        </p:txBody>
      </p:sp>
      <p:sp>
        <p:nvSpPr>
          <p:cNvPr id="34" name="Text 29"/>
          <p:cNvSpPr/>
          <p:nvPr/>
        </p:nvSpPr>
        <p:spPr>
          <a:xfrm>
            <a:off x="8321040" y="4498848"/>
            <a:ext cx="2971800" cy="4114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Highest accuracy in this project.</a:t>
            </a:r>
            <a:endParaRPr lang="en-US" sz="1000" dirty="0"/>
          </a:p>
        </p:txBody>
      </p:sp>
      <p:sp>
        <p:nvSpPr>
          <p:cNvPr id="35" name="Text 30"/>
          <p:cNvSpPr/>
          <p:nvPr/>
        </p:nvSpPr>
        <p:spPr>
          <a:xfrm>
            <a:off x="8321040" y="4882896"/>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LIMITATION</a:t>
            </a:r>
            <a:endParaRPr lang="en-US" sz="850" dirty="0"/>
          </a:p>
        </p:txBody>
      </p:sp>
      <p:sp>
        <p:nvSpPr>
          <p:cNvPr id="36" name="Text 31"/>
          <p:cNvSpPr/>
          <p:nvPr/>
        </p:nvSpPr>
        <p:spPr>
          <a:xfrm>
            <a:off x="8321040" y="5065776"/>
            <a:ext cx="2971800" cy="4114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More hyperparameters to tune.</a:t>
            </a:r>
            <a:endParaRPr lang="en-US" sz="1000" dirty="0"/>
          </a:p>
        </p:txBody>
      </p:sp>
      <p:sp>
        <p:nvSpPr>
          <p:cNvPr id="37" name="Text 32"/>
          <p:cNvSpPr/>
          <p:nvPr/>
        </p:nvSpPr>
        <p:spPr>
          <a:xfrm>
            <a:off x="548640" y="5504688"/>
            <a:ext cx="1828800" cy="320040"/>
          </a:xfrm>
          <a:prstGeom prst="rect">
            <a:avLst/>
          </a:prstGeom>
          <a:noFill/>
          <a:ln/>
        </p:spPr>
        <p:txBody>
          <a:bodyPr wrap="square" lIns="0" tIns="0" rIns="0" bIns="0" rtlCol="0" anchor="ctr"/>
          <a:lstStyle/>
          <a:p>
            <a:pPr marL="0" indent="0">
              <a:buNone/>
            </a:pPr>
            <a:r>
              <a:rPr lang="en-US" sz="1150" b="1" dirty="0">
                <a:solidFill>
                  <a:srgbClr val="132A52"/>
                </a:solidFill>
                <a:latin typeface="Calibri" pitchFamily="34" charset="0"/>
                <a:ea typeface="Calibri" pitchFamily="34" charset="-122"/>
                <a:cs typeface="Calibri" pitchFamily="34" charset="-120"/>
              </a:rPr>
              <a:t>Evaluation Metrics:</a:t>
            </a:r>
            <a:endParaRPr lang="en-US" sz="1150" dirty="0"/>
          </a:p>
        </p:txBody>
      </p:sp>
      <p:sp>
        <p:nvSpPr>
          <p:cNvPr id="38" name="Shape 33"/>
          <p:cNvSpPr/>
          <p:nvPr/>
        </p:nvSpPr>
        <p:spPr>
          <a:xfrm>
            <a:off x="2331720" y="5486400"/>
            <a:ext cx="987552" cy="347472"/>
          </a:xfrm>
          <a:prstGeom prst="roundRect">
            <a:avLst>
              <a:gd name="adj" fmla="val 50000"/>
            </a:avLst>
          </a:prstGeom>
          <a:solidFill>
            <a:srgbClr val="AFD0EF"/>
          </a:solidFill>
          <a:ln/>
        </p:spPr>
      </p:sp>
      <p:sp>
        <p:nvSpPr>
          <p:cNvPr id="39" name="Text 34"/>
          <p:cNvSpPr/>
          <p:nvPr/>
        </p:nvSpPr>
        <p:spPr>
          <a:xfrm>
            <a:off x="2331720" y="5486400"/>
            <a:ext cx="987552" cy="347472"/>
          </a:xfrm>
          <a:prstGeom prst="rect">
            <a:avLst/>
          </a:prstGeom>
          <a:noFill/>
          <a:ln/>
        </p:spPr>
        <p:txBody>
          <a:bodyPr wrap="square" lIns="0" tIns="0" rIns="0" bIns="0" rtlCol="0" anchor="ctr"/>
          <a:lstStyle/>
          <a:p>
            <a:pPr marL="0" indent="0" algn="ctr">
              <a:buNone/>
            </a:pPr>
            <a:r>
              <a:rPr lang="en-US" sz="1050" b="1" dirty="0">
                <a:solidFill>
                  <a:srgbClr val="132A52"/>
                </a:solidFill>
                <a:latin typeface="Calibri" pitchFamily="34" charset="0"/>
                <a:ea typeface="Calibri" pitchFamily="34" charset="-122"/>
                <a:cs typeface="Calibri" pitchFamily="34" charset="-120"/>
              </a:rPr>
              <a:t>MAE</a:t>
            </a:r>
            <a:endParaRPr lang="en-US" sz="1050" dirty="0"/>
          </a:p>
        </p:txBody>
      </p:sp>
      <p:sp>
        <p:nvSpPr>
          <p:cNvPr id="40" name="Shape 35"/>
          <p:cNvSpPr/>
          <p:nvPr/>
        </p:nvSpPr>
        <p:spPr>
          <a:xfrm>
            <a:off x="3483864" y="5486400"/>
            <a:ext cx="1042416" cy="347472"/>
          </a:xfrm>
          <a:prstGeom prst="roundRect">
            <a:avLst>
              <a:gd name="adj" fmla="val 50000"/>
            </a:avLst>
          </a:prstGeom>
          <a:solidFill>
            <a:srgbClr val="AFD0EF"/>
          </a:solidFill>
          <a:ln/>
        </p:spPr>
      </p:sp>
      <p:sp>
        <p:nvSpPr>
          <p:cNvPr id="41" name="Text 36"/>
          <p:cNvSpPr/>
          <p:nvPr/>
        </p:nvSpPr>
        <p:spPr>
          <a:xfrm>
            <a:off x="3483864" y="5486400"/>
            <a:ext cx="1042416" cy="347472"/>
          </a:xfrm>
          <a:prstGeom prst="rect">
            <a:avLst/>
          </a:prstGeom>
          <a:noFill/>
          <a:ln/>
        </p:spPr>
        <p:txBody>
          <a:bodyPr wrap="square" lIns="0" tIns="0" rIns="0" bIns="0" rtlCol="0" anchor="ctr"/>
          <a:lstStyle/>
          <a:p>
            <a:pPr marL="0" indent="0" algn="ctr">
              <a:buNone/>
            </a:pPr>
            <a:r>
              <a:rPr lang="en-US" sz="1050" b="1" dirty="0">
                <a:solidFill>
                  <a:srgbClr val="132A52"/>
                </a:solidFill>
                <a:latin typeface="Calibri" pitchFamily="34" charset="0"/>
                <a:ea typeface="Calibri" pitchFamily="34" charset="-122"/>
                <a:cs typeface="Calibri" pitchFamily="34" charset="-120"/>
              </a:rPr>
              <a:t>RMSE</a:t>
            </a:r>
            <a:endParaRPr lang="en-US" sz="1050" dirty="0"/>
          </a:p>
        </p:txBody>
      </p:sp>
      <p:sp>
        <p:nvSpPr>
          <p:cNvPr id="42" name="Shape 37"/>
          <p:cNvSpPr/>
          <p:nvPr/>
        </p:nvSpPr>
        <p:spPr>
          <a:xfrm>
            <a:off x="4690872" y="5486400"/>
            <a:ext cx="1261872" cy="347472"/>
          </a:xfrm>
          <a:prstGeom prst="roundRect">
            <a:avLst>
              <a:gd name="adj" fmla="val 50000"/>
            </a:avLst>
          </a:prstGeom>
          <a:solidFill>
            <a:srgbClr val="AFD0EF"/>
          </a:solidFill>
          <a:ln/>
        </p:spPr>
      </p:sp>
      <p:sp>
        <p:nvSpPr>
          <p:cNvPr id="43" name="Text 38"/>
          <p:cNvSpPr/>
          <p:nvPr/>
        </p:nvSpPr>
        <p:spPr>
          <a:xfrm>
            <a:off x="4690872" y="5486400"/>
            <a:ext cx="1261872" cy="347472"/>
          </a:xfrm>
          <a:prstGeom prst="rect">
            <a:avLst/>
          </a:prstGeom>
          <a:noFill/>
          <a:ln/>
        </p:spPr>
        <p:txBody>
          <a:bodyPr wrap="square" lIns="0" tIns="0" rIns="0" bIns="0" rtlCol="0" anchor="ctr"/>
          <a:lstStyle/>
          <a:p>
            <a:pPr marL="0" indent="0" algn="ctr">
              <a:buNone/>
            </a:pPr>
            <a:r>
              <a:rPr lang="en-US" sz="1050" b="1" dirty="0">
                <a:solidFill>
                  <a:srgbClr val="132A52"/>
                </a:solidFill>
                <a:latin typeface="Calibri" pitchFamily="34" charset="0"/>
                <a:ea typeface="Calibri" pitchFamily="34" charset="-122"/>
                <a:cs typeface="Calibri" pitchFamily="34" charset="-120"/>
              </a:rPr>
              <a:t>R² Score</a:t>
            </a:r>
            <a:endParaRPr lang="en-US" sz="1050" dirty="0"/>
          </a:p>
        </p:txBody>
      </p:sp>
      <p:sp>
        <p:nvSpPr>
          <p:cNvPr id="44" name="Text 39"/>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45" name="Shape 40"/>
          <p:cNvSpPr/>
          <p:nvPr/>
        </p:nvSpPr>
        <p:spPr>
          <a:xfrm>
            <a:off x="11503152" y="6172200"/>
            <a:ext cx="384048" cy="384048"/>
          </a:xfrm>
          <a:prstGeom prst="ellipse">
            <a:avLst/>
          </a:prstGeom>
          <a:solidFill>
            <a:srgbClr val="132A52"/>
          </a:solidFill>
          <a:ln/>
        </p:spPr>
      </p:sp>
      <p:sp>
        <p:nvSpPr>
          <p:cNvPr id="46" name="Text 41"/>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PERFORMANCE</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Results &amp; Model Comparison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1463040"/>
        </p:xfrm>
        <a:graphic>
          <a:graphicData uri="http://schemas.openxmlformats.org/drawingml/2006/table">
            <a:tbl>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65760">
                <a:tc>
                  <a:txBody>
                    <a:bodyPr/>
                    <a:lstStyle/>
                    <a:p>
                      <a:pPr marL="0" indent="0" algn="l">
                        <a:buNone/>
                      </a:pPr>
                      <a:r>
                        <a:rPr lang="en-US" sz="1100" b="1" dirty="0">
                          <a:solidFill>
                            <a:srgbClr val="FFFFFF"/>
                          </a:solidFill>
                        </a:rPr>
                        <a:t>Model</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1100" b="1" dirty="0">
                          <a:solidFill>
                            <a:srgbClr val="FFFFFF"/>
                          </a:solidFill>
                        </a:rPr>
                        <a:t>RMSE</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1100" b="1" dirty="0">
                          <a:solidFill>
                            <a:srgbClr val="FFFFFF"/>
                          </a:solidFill>
                        </a:rPr>
                        <a:t>MAE</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1100" b="1" dirty="0">
                          <a:solidFill>
                            <a:srgbClr val="FFFFFF"/>
                          </a:solidFill>
                        </a:rPr>
                        <a:t>R² Score</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extLst>
                  <a:ext uri="{0D108BD9-81ED-4DB2-BD59-A6C34878D82A}">
                    <a16:rowId xmlns:a16="http://schemas.microsoft.com/office/drawing/2014/main" val="10000"/>
                  </a:ext>
                </a:extLst>
              </a:tr>
              <a:tr h="365760">
                <a:tc>
                  <a:txBody>
                    <a:bodyPr/>
                    <a:lstStyle/>
                    <a:p>
                      <a:pPr marL="0" indent="0" algn="l">
                        <a:buNone/>
                      </a:pPr>
                      <a:r>
                        <a:rPr lang="en-US" sz="1150" b="1" dirty="0">
                          <a:solidFill>
                            <a:srgbClr val="1B2A4A"/>
                          </a:solidFill>
                        </a:rPr>
                        <a:t>Linear Regression</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4A"/>
                          </a:solidFill>
                        </a:rPr>
                        <a:t>70,059</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4A"/>
                          </a:solidFill>
                        </a:rPr>
                        <a:t>50,670</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4A"/>
                          </a:solidFill>
                        </a:rPr>
                        <a:t>0.625</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b="1" dirty="0">
                          <a:solidFill>
                            <a:srgbClr val="1B2A4A"/>
                          </a:solidFill>
                        </a:rPr>
                        <a:t>Random Forest</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tc>
                  <a:txBody>
                    <a:bodyPr/>
                    <a:lstStyle/>
                    <a:p>
                      <a:pPr marL="0" indent="0" algn="ctr">
                        <a:buNone/>
                      </a:pPr>
                      <a:r>
                        <a:rPr lang="en-US" sz="1150" dirty="0">
                          <a:solidFill>
                            <a:srgbClr val="1B2A4A"/>
                          </a:solidFill>
                        </a:rPr>
                        <a:t>48,942</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tc>
                  <a:txBody>
                    <a:bodyPr/>
                    <a:lstStyle/>
                    <a:p>
                      <a:pPr marL="0" indent="0" algn="ctr">
                        <a:buNone/>
                      </a:pPr>
                      <a:r>
                        <a:rPr lang="en-US" sz="1150" dirty="0">
                          <a:solidFill>
                            <a:srgbClr val="1B2A4A"/>
                          </a:solidFill>
                        </a:rPr>
                        <a:t>31,628</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tc>
                  <a:txBody>
                    <a:bodyPr/>
                    <a:lstStyle/>
                    <a:p>
                      <a:pPr marL="0" indent="0" algn="ctr">
                        <a:buNone/>
                      </a:pPr>
                      <a:r>
                        <a:rPr lang="en-US" sz="1150" dirty="0">
                          <a:solidFill>
                            <a:srgbClr val="1B2A4A"/>
                          </a:solidFill>
                        </a:rPr>
                        <a:t>0.817</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extLst>
                  <a:ext uri="{0D108BD9-81ED-4DB2-BD59-A6C34878D82A}">
                    <a16:rowId xmlns:a16="http://schemas.microsoft.com/office/drawing/2014/main" val="10002"/>
                  </a:ext>
                </a:extLst>
              </a:tr>
              <a:tr h="365760">
                <a:tc>
                  <a:txBody>
                    <a:bodyPr/>
                    <a:lstStyle/>
                    <a:p>
                      <a:pPr marL="0" indent="0" algn="l">
                        <a:buNone/>
                      </a:pPr>
                      <a:r>
                        <a:rPr lang="en-US" sz="1150" b="1" dirty="0">
                          <a:solidFill>
                            <a:srgbClr val="1B2A4A"/>
                          </a:solidFill>
                        </a:rPr>
                        <a:t>XGBoost</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1150" dirty="0">
                          <a:solidFill>
                            <a:srgbClr val="1B2A4A"/>
                          </a:solidFill>
                        </a:rPr>
                        <a:t>48,496</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1150" dirty="0">
                          <a:solidFill>
                            <a:srgbClr val="1B2A4A"/>
                          </a:solidFill>
                        </a:rPr>
                        <a:t>32,453</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1150" dirty="0">
                          <a:solidFill>
                            <a:srgbClr val="1B2A4A"/>
                          </a:solidFill>
                        </a:rPr>
                        <a:t>0.821</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3200400"/>
            <a:ext cx="5394960" cy="274320"/>
          </a:xfrm>
          <a:prstGeom prst="rect">
            <a:avLst/>
          </a:prstGeom>
          <a:noFill/>
          <a:ln/>
        </p:spPr>
        <p:txBody>
          <a:bodyPr wrap="square" lIns="0" tIns="0" rIns="0" bIns="0" rtlCol="0" anchor="ctr"/>
          <a:lstStyle/>
          <a:p>
            <a:pPr marL="0" indent="0">
              <a:buNone/>
            </a:pPr>
            <a:r>
              <a:rPr lang="en-US" sz="950" i="1" dirty="0">
                <a:solidFill>
                  <a:srgbClr val="5C6B85"/>
                </a:solidFill>
                <a:latin typeface="Calibri" pitchFamily="34" charset="0"/>
                <a:ea typeface="Calibri" pitchFamily="34" charset="-122"/>
                <a:cs typeface="Calibri" pitchFamily="34" charset="-120"/>
              </a:rPr>
              <a:t>Metrics computed on the held-out 20% test set (4,128 rows)</a:t>
            </a:r>
            <a:endParaRPr lang="en-US" sz="950" dirty="0"/>
          </a:p>
        </p:txBody>
      </p:sp>
      <p:sp>
        <p:nvSpPr>
          <p:cNvPr id="6" name="Shape 3"/>
          <p:cNvSpPr/>
          <p:nvPr/>
        </p:nvSpPr>
        <p:spPr>
          <a:xfrm>
            <a:off x="548640" y="3611880"/>
            <a:ext cx="5394960" cy="960120"/>
          </a:xfrm>
          <a:prstGeom prst="roundRect">
            <a:avLst>
              <a:gd name="adj" fmla="val 9524"/>
            </a:avLst>
          </a:prstGeom>
          <a:solidFill>
            <a:srgbClr val="132A52"/>
          </a:solidFill>
          <a:ln/>
          <a:effectLst>
            <a:outerShdw blurRad="101600" dist="38100" dir="2700000" algn="bl" rotWithShape="0">
              <a:srgbClr val="0C1D3D">
                <a:alpha val="12000"/>
              </a:srgbClr>
            </a:outerShdw>
          </a:effectLst>
        </p:spPr>
      </p:sp>
      <p:sp>
        <p:nvSpPr>
          <p:cNvPr id="7" name="Shape 4"/>
          <p:cNvSpPr/>
          <p:nvPr/>
        </p:nvSpPr>
        <p:spPr>
          <a:xfrm>
            <a:off x="777240" y="3794760"/>
            <a:ext cx="594360" cy="594360"/>
          </a:xfrm>
          <a:prstGeom prst="ellipse">
            <a:avLst/>
          </a:prstGeom>
          <a:solidFill>
            <a:srgbClr val="1E3A6B"/>
          </a:solidFill>
          <a:ln/>
        </p:spPr>
      </p:sp>
      <p:pic>
        <p:nvPicPr>
          <p:cNvPr id="8" name="Image 0" descr="/home/claude/ppt/icons/trophy_gold.png"/>
          <p:cNvPicPr>
            <a:picLocks noChangeAspect="1"/>
          </p:cNvPicPr>
          <p:nvPr/>
        </p:nvPicPr>
        <p:blipFill>
          <a:blip r:embed="rId3"/>
          <a:stretch>
            <a:fillRect/>
          </a:stretch>
        </p:blipFill>
        <p:spPr>
          <a:xfrm>
            <a:off x="896112" y="3913632"/>
            <a:ext cx="356616" cy="356616"/>
          </a:xfrm>
          <a:prstGeom prst="rect">
            <a:avLst/>
          </a:prstGeom>
        </p:spPr>
      </p:pic>
      <p:sp>
        <p:nvSpPr>
          <p:cNvPr id="9" name="Text 5"/>
          <p:cNvSpPr/>
          <p:nvPr/>
        </p:nvSpPr>
        <p:spPr>
          <a:xfrm>
            <a:off x="1554480" y="3703320"/>
            <a:ext cx="420624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Best Performer: XGBoost</a:t>
            </a:r>
            <a:endParaRPr lang="en-US" sz="1350" dirty="0"/>
          </a:p>
        </p:txBody>
      </p:sp>
      <p:sp>
        <p:nvSpPr>
          <p:cNvPr id="4" name="Text 6"/>
          <p:cNvSpPr/>
          <p:nvPr/>
        </p:nvSpPr>
        <p:spPr>
          <a:xfrm>
            <a:off x="1554480" y="4023360"/>
            <a:ext cx="4206240" cy="457200"/>
          </a:xfrm>
          <a:prstGeom prst="rect">
            <a:avLst/>
          </a:prstGeom>
          <a:noFill/>
          <a:ln/>
        </p:spPr>
        <p:txBody>
          <a:bodyPr wrap="square" lIns="0" tIns="0" rIns="0" bIns="0" rtlCol="0" anchor="ctr"/>
          <a:lstStyle/>
          <a:p>
            <a:pPr marL="0" indent="0">
              <a:buNone/>
            </a:pPr>
            <a:r>
              <a:rPr lang="en-US" sz="1050" dirty="0">
                <a:solidFill>
                  <a:srgbClr val="AFD0EF"/>
                </a:solidFill>
                <a:latin typeface="Calibri" pitchFamily="34" charset="0"/>
                <a:ea typeface="Calibri" pitchFamily="34" charset="-122"/>
                <a:cs typeface="Calibri" pitchFamily="34" charset="-120"/>
              </a:rPr>
              <a:t>Lowest RMSE and highest R² (0.821) on the test set</a:t>
            </a:r>
            <a:endParaRPr lang="en-US" sz="1050" dirty="0"/>
          </a:p>
        </p:txBody>
      </p:sp>
      <p:sp>
        <p:nvSpPr>
          <p:cNvPr id="11" name="Text 7"/>
          <p:cNvSpPr/>
          <p:nvPr/>
        </p:nvSpPr>
        <p:spPr>
          <a:xfrm>
            <a:off x="548640" y="4709160"/>
            <a:ext cx="5394960" cy="64008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Random Forest achieved the lowest MAE (31,628), making it competitive despite a marginally lower R².</a:t>
            </a:r>
            <a:endParaRPr lang="en-US" sz="1050" dirty="0"/>
          </a:p>
        </p:txBody>
      </p:sp>
      <p:graphicFrame>
        <p:nvGraphicFramePr>
          <p:cNvPr id="12" name="Chart 0"/>
          <p:cNvGraphicFramePr/>
          <p:nvPr/>
        </p:nvGraphicFramePr>
        <p:xfrm>
          <a:off x="6263640" y="1645920"/>
          <a:ext cx="539496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8"/>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14" name="Shape 9"/>
          <p:cNvSpPr/>
          <p:nvPr/>
        </p:nvSpPr>
        <p:spPr>
          <a:xfrm>
            <a:off x="11503152" y="6172200"/>
            <a:ext cx="384048" cy="384048"/>
          </a:xfrm>
          <a:prstGeom prst="ellipse">
            <a:avLst/>
          </a:prstGeom>
          <a:solidFill>
            <a:srgbClr val="132A52"/>
          </a:solidFill>
          <a:ln/>
        </p:spPr>
      </p:sp>
      <p:sp>
        <p:nvSpPr>
          <p:cNvPr id="15" name="Text 10"/>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PROJECT IN ACTION</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Notebook Outputs</a:t>
            </a:r>
            <a:endParaRPr lang="en-US" sz="3000" dirty="0"/>
          </a:p>
        </p:txBody>
      </p:sp>
      <p:sp>
        <p:nvSpPr>
          <p:cNvPr id="4" name="Shape 2"/>
          <p:cNvSpPr/>
          <p:nvPr/>
        </p:nvSpPr>
        <p:spPr>
          <a:xfrm>
            <a:off x="548640" y="1554480"/>
            <a:ext cx="5806440" cy="3566160"/>
          </a:xfrm>
          <a:prstGeom prst="roundRect">
            <a:avLst>
              <a:gd name="adj" fmla="val 2564"/>
            </a:avLst>
          </a:prstGeom>
          <a:solidFill>
            <a:srgbClr val="FFFFFF"/>
          </a:solidFill>
          <a:ln/>
          <a:effectLst>
            <a:outerShdw blurRad="101600" dist="38100" dir="2700000" algn="bl" rotWithShape="0">
              <a:srgbClr val="0C1D3D">
                <a:alpha val="12000"/>
              </a:srgbClr>
            </a:outerShdw>
          </a:effectLst>
        </p:spPr>
      </p:sp>
      <p:pic>
        <p:nvPicPr>
          <p:cNvPr id="5" name="Image 0" descr="/home/claude/nb_images/feature_distributions.png"/>
          <p:cNvPicPr>
            <a:picLocks noChangeAspect="1"/>
          </p:cNvPicPr>
          <p:nvPr/>
        </p:nvPicPr>
        <p:blipFill>
          <a:blip r:embed="rId3"/>
          <a:stretch>
            <a:fillRect/>
          </a:stretch>
        </p:blipFill>
        <p:spPr>
          <a:xfrm>
            <a:off x="548640" y="1402624"/>
            <a:ext cx="5440680" cy="4052751"/>
          </a:xfrm>
          <a:prstGeom prst="rect">
            <a:avLst/>
          </a:prstGeom>
        </p:spPr>
      </p:pic>
      <p:sp>
        <p:nvSpPr>
          <p:cNvPr id="6" name="Text 3"/>
          <p:cNvSpPr/>
          <p:nvPr/>
        </p:nvSpPr>
        <p:spPr>
          <a:xfrm>
            <a:off x="1654546" y="5646420"/>
            <a:ext cx="544068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Distribution plots for all numerical features</a:t>
            </a:r>
            <a:endParaRPr lang="en-US" sz="1000" dirty="0"/>
          </a:p>
        </p:txBody>
      </p:sp>
      <p:sp>
        <p:nvSpPr>
          <p:cNvPr id="7" name="Shape 4"/>
          <p:cNvSpPr/>
          <p:nvPr/>
        </p:nvSpPr>
        <p:spPr>
          <a:xfrm>
            <a:off x="6537960" y="1554480"/>
            <a:ext cx="5120640" cy="3566160"/>
          </a:xfrm>
          <a:prstGeom prst="roundRect">
            <a:avLst>
              <a:gd name="adj" fmla="val 2564"/>
            </a:avLst>
          </a:prstGeom>
          <a:solidFill>
            <a:srgbClr val="FFFFFF"/>
          </a:solidFill>
          <a:ln/>
          <a:effectLst>
            <a:outerShdw blurRad="101600" dist="38100" dir="2700000" algn="bl" rotWithShape="0">
              <a:srgbClr val="0C1D3D">
                <a:alpha val="12000"/>
              </a:srgbClr>
            </a:outerShdw>
          </a:effectLst>
        </p:spPr>
      </p:sp>
      <p:pic>
        <p:nvPicPr>
          <p:cNvPr id="8" name="Image 1" descr="/home/claude/nb_images/ocean_proximity_countplot.png"/>
          <p:cNvPicPr>
            <a:picLocks noChangeAspect="1"/>
          </p:cNvPicPr>
          <p:nvPr/>
        </p:nvPicPr>
        <p:blipFill>
          <a:blip r:embed="rId4"/>
          <a:stretch>
            <a:fillRect/>
          </a:stretch>
        </p:blipFill>
        <p:spPr>
          <a:xfrm>
            <a:off x="6720840" y="2148840"/>
            <a:ext cx="4754880" cy="1747376"/>
          </a:xfrm>
          <a:prstGeom prst="rect">
            <a:avLst/>
          </a:prstGeom>
        </p:spPr>
      </p:pic>
      <p:sp>
        <p:nvSpPr>
          <p:cNvPr id="9" name="Text 5"/>
          <p:cNvSpPr/>
          <p:nvPr/>
        </p:nvSpPr>
        <p:spPr>
          <a:xfrm>
            <a:off x="6720840" y="4023360"/>
            <a:ext cx="475488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Category counts for ocean_proximity</a:t>
            </a:r>
            <a:endParaRPr lang="en-US" sz="1000" dirty="0"/>
          </a:p>
        </p:txBody>
      </p:sp>
      <p:sp>
        <p:nvSpPr>
          <p:cNvPr id="10" name="Text 6"/>
          <p:cNvSpPr/>
          <p:nvPr/>
        </p:nvSpPr>
        <p:spPr>
          <a:xfrm>
            <a:off x="6720840" y="4343400"/>
            <a:ext cx="4754880" cy="64008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Direct outputs captured from the project Jupyter Notebook</a:t>
            </a:r>
            <a:endParaRPr lang="en-US" sz="1050" dirty="0"/>
          </a:p>
        </p:txBody>
      </p:sp>
      <p:sp>
        <p:nvSpPr>
          <p:cNvPr id="11" name="Text 7"/>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12" name="Shape 8"/>
          <p:cNvSpPr/>
          <p:nvPr/>
        </p:nvSpPr>
        <p:spPr>
          <a:xfrm>
            <a:off x="11503152" y="6172200"/>
            <a:ext cx="384048" cy="384048"/>
          </a:xfrm>
          <a:prstGeom prst="ellipse">
            <a:avLst/>
          </a:prstGeom>
          <a:solidFill>
            <a:srgbClr val="132A52"/>
          </a:solidFill>
          <a:ln/>
        </p:spPr>
      </p:sp>
      <p:sp>
        <p:nvSpPr>
          <p:cNvPr id="13" name="Text 9"/>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2700">
            <a:solidFill>
              <a:srgbClr val="5B9BD5">
                <a:alpha val="45000"/>
              </a:srgbClr>
            </a:solidFill>
            <a:prstDash val="solid"/>
          </a:ln>
        </p:spPr>
      </p:sp>
      <p:sp>
        <p:nvSpPr>
          <p:cNvPr id="3" name="Shape 1"/>
          <p:cNvSpPr/>
          <p:nvPr/>
        </p:nvSpPr>
        <p:spPr>
          <a:xfrm flipV="1">
            <a:off x="9966960" y="1371600"/>
            <a:ext cx="640080" cy="365760"/>
          </a:xfrm>
          <a:prstGeom prst="line">
            <a:avLst/>
          </a:prstGeom>
          <a:noFill/>
          <a:ln w="12700">
            <a:solidFill>
              <a:srgbClr val="5B9BD5">
                <a:alpha val="45000"/>
              </a:srgbClr>
            </a:solidFill>
            <a:prstDash val="solid"/>
          </a:ln>
        </p:spPr>
      </p:sp>
      <p:sp>
        <p:nvSpPr>
          <p:cNvPr id="4" name="Shape 2"/>
          <p:cNvSpPr/>
          <p:nvPr/>
        </p:nvSpPr>
        <p:spPr>
          <a:xfrm>
            <a:off x="9692640" y="822960"/>
            <a:ext cx="1463040" cy="91440"/>
          </a:xfrm>
          <a:prstGeom prst="line">
            <a:avLst/>
          </a:prstGeom>
          <a:noFill/>
          <a:ln w="12700">
            <a:solidFill>
              <a:srgbClr val="5B9BD5">
                <a:alpha val="45000"/>
              </a:srgbClr>
            </a:solidFill>
            <a:prstDash val="solid"/>
          </a:ln>
        </p:spPr>
      </p:sp>
      <p:sp>
        <p:nvSpPr>
          <p:cNvPr id="5" name="Shape 3"/>
          <p:cNvSpPr/>
          <p:nvPr/>
        </p:nvSpPr>
        <p:spPr>
          <a:xfrm flipV="1">
            <a:off x="10607040" y="914400"/>
            <a:ext cx="548640" cy="457200"/>
          </a:xfrm>
          <a:prstGeom prst="line">
            <a:avLst/>
          </a:prstGeom>
          <a:noFill/>
          <a:ln w="12700">
            <a:solidFill>
              <a:srgbClr val="5B9BD5">
                <a:alpha val="45000"/>
              </a:srgbClr>
            </a:solidFill>
            <a:prstDash val="solid"/>
          </a:ln>
        </p:spPr>
      </p:sp>
      <p:sp>
        <p:nvSpPr>
          <p:cNvPr id="6" name="Shape 4"/>
          <p:cNvSpPr/>
          <p:nvPr/>
        </p:nvSpPr>
        <p:spPr>
          <a:xfrm flipV="1">
            <a:off x="10424160" y="1371600"/>
            <a:ext cx="182880" cy="822960"/>
          </a:xfrm>
          <a:prstGeom prst="line">
            <a:avLst/>
          </a:prstGeom>
          <a:noFill/>
          <a:ln w="12700">
            <a:solidFill>
              <a:srgbClr val="5B9BD5">
                <a:alpha val="45000"/>
              </a:srgbClr>
            </a:solidFill>
            <a:prstDash val="solid"/>
          </a:ln>
        </p:spPr>
      </p:sp>
      <p:sp>
        <p:nvSpPr>
          <p:cNvPr id="7" name="Shape 5"/>
          <p:cNvSpPr/>
          <p:nvPr/>
        </p:nvSpPr>
        <p:spPr>
          <a:xfrm>
            <a:off x="11155680" y="914400"/>
            <a:ext cx="182880" cy="914400"/>
          </a:xfrm>
          <a:prstGeom prst="line">
            <a:avLst/>
          </a:prstGeom>
          <a:noFill/>
          <a:ln w="12700">
            <a:solidFill>
              <a:srgbClr val="5B9BD5">
                <a:alpha val="45000"/>
              </a:srgbClr>
            </a:solidFill>
            <a:prstDash val="solid"/>
          </a:ln>
        </p:spPr>
      </p:sp>
      <p:sp>
        <p:nvSpPr>
          <p:cNvPr id="8" name="Shape 6"/>
          <p:cNvSpPr/>
          <p:nvPr/>
        </p:nvSpPr>
        <p:spPr>
          <a:xfrm flipV="1">
            <a:off x="10424160" y="1828800"/>
            <a:ext cx="914400" cy="365760"/>
          </a:xfrm>
          <a:prstGeom prst="line">
            <a:avLst/>
          </a:prstGeom>
          <a:noFill/>
          <a:ln w="12700">
            <a:solidFill>
              <a:srgbClr val="5B9BD5">
                <a:alpha val="45000"/>
              </a:srgbClr>
            </a:solidFill>
            <a:prstDash val="solid"/>
          </a:ln>
        </p:spPr>
      </p:sp>
      <p:sp>
        <p:nvSpPr>
          <p:cNvPr id="9" name="Shape 7"/>
          <p:cNvSpPr/>
          <p:nvPr/>
        </p:nvSpPr>
        <p:spPr>
          <a:xfrm>
            <a:off x="9651492" y="781812"/>
            <a:ext cx="82296" cy="82296"/>
          </a:xfrm>
          <a:prstGeom prst="ellipse">
            <a:avLst/>
          </a:prstGeom>
          <a:solidFill>
            <a:srgbClr val="5B9BD5">
              <a:alpha val="75000"/>
            </a:srgbClr>
          </a:solidFill>
          <a:ln/>
        </p:spPr>
      </p:sp>
      <p:sp>
        <p:nvSpPr>
          <p:cNvPr id="10" name="Shape 8"/>
          <p:cNvSpPr/>
          <p:nvPr/>
        </p:nvSpPr>
        <p:spPr>
          <a:xfrm>
            <a:off x="10565892" y="1330452"/>
            <a:ext cx="82296" cy="82296"/>
          </a:xfrm>
          <a:prstGeom prst="ellipse">
            <a:avLst/>
          </a:prstGeom>
          <a:solidFill>
            <a:srgbClr val="5B9BD5">
              <a:alpha val="75000"/>
            </a:srgbClr>
          </a:solidFill>
          <a:ln/>
        </p:spPr>
      </p:sp>
      <p:sp>
        <p:nvSpPr>
          <p:cNvPr id="11" name="Shape 9"/>
          <p:cNvSpPr/>
          <p:nvPr/>
        </p:nvSpPr>
        <p:spPr>
          <a:xfrm>
            <a:off x="9925812" y="1696212"/>
            <a:ext cx="82296" cy="82296"/>
          </a:xfrm>
          <a:prstGeom prst="ellipse">
            <a:avLst/>
          </a:prstGeom>
          <a:solidFill>
            <a:srgbClr val="5B9BD5">
              <a:alpha val="75000"/>
            </a:srgbClr>
          </a:solidFill>
          <a:ln/>
        </p:spPr>
      </p:sp>
      <p:sp>
        <p:nvSpPr>
          <p:cNvPr id="12" name="Shape 10"/>
          <p:cNvSpPr/>
          <p:nvPr/>
        </p:nvSpPr>
        <p:spPr>
          <a:xfrm>
            <a:off x="11114532" y="873252"/>
            <a:ext cx="82296" cy="82296"/>
          </a:xfrm>
          <a:prstGeom prst="ellipse">
            <a:avLst/>
          </a:prstGeom>
          <a:solidFill>
            <a:srgbClr val="5B9BD5">
              <a:alpha val="75000"/>
            </a:srgbClr>
          </a:solidFill>
          <a:ln/>
        </p:spPr>
      </p:sp>
      <p:sp>
        <p:nvSpPr>
          <p:cNvPr id="13" name="Shape 11"/>
          <p:cNvSpPr/>
          <p:nvPr/>
        </p:nvSpPr>
        <p:spPr>
          <a:xfrm>
            <a:off x="10383012" y="2153412"/>
            <a:ext cx="82296" cy="82296"/>
          </a:xfrm>
          <a:prstGeom prst="ellipse">
            <a:avLst/>
          </a:prstGeom>
          <a:solidFill>
            <a:srgbClr val="5B9BD5">
              <a:alpha val="75000"/>
            </a:srgbClr>
          </a:solidFill>
          <a:ln/>
        </p:spPr>
      </p:sp>
      <p:sp>
        <p:nvSpPr>
          <p:cNvPr id="14" name="Shape 12"/>
          <p:cNvSpPr/>
          <p:nvPr/>
        </p:nvSpPr>
        <p:spPr>
          <a:xfrm>
            <a:off x="11297412" y="1787652"/>
            <a:ext cx="82296" cy="82296"/>
          </a:xfrm>
          <a:prstGeom prst="ellipse">
            <a:avLst/>
          </a:prstGeom>
          <a:solidFill>
            <a:srgbClr val="5B9BD5">
              <a:alpha val="75000"/>
            </a:srgbClr>
          </a:solidFill>
          <a:ln/>
        </p:spPr>
      </p:sp>
      <p:sp>
        <p:nvSpPr>
          <p:cNvPr id="15" name="Shape 13"/>
          <p:cNvSpPr/>
          <p:nvPr/>
        </p:nvSpPr>
        <p:spPr>
          <a:xfrm>
            <a:off x="0" y="5943600"/>
            <a:ext cx="822960" cy="914400"/>
          </a:xfrm>
          <a:prstGeom prst="rect">
            <a:avLst/>
          </a:prstGeom>
          <a:solidFill>
            <a:srgbClr val="5B9BD5">
              <a:alpha val="12000"/>
            </a:srgbClr>
          </a:solidFill>
          <a:ln/>
        </p:spPr>
      </p:sp>
      <p:sp>
        <p:nvSpPr>
          <p:cNvPr id="16" name="Shape 14"/>
          <p:cNvSpPr/>
          <p:nvPr/>
        </p:nvSpPr>
        <p:spPr>
          <a:xfrm>
            <a:off x="777240" y="5486400"/>
            <a:ext cx="548640" cy="1371600"/>
          </a:xfrm>
          <a:prstGeom prst="rect">
            <a:avLst/>
          </a:prstGeom>
          <a:solidFill>
            <a:srgbClr val="5B9BD5">
              <a:alpha val="12000"/>
            </a:srgbClr>
          </a:solidFill>
          <a:ln/>
        </p:spPr>
      </p:sp>
      <p:sp>
        <p:nvSpPr>
          <p:cNvPr id="17" name="Shape 15"/>
          <p:cNvSpPr/>
          <p:nvPr/>
        </p:nvSpPr>
        <p:spPr>
          <a:xfrm>
            <a:off x="1280160" y="6126480"/>
            <a:ext cx="914400" cy="731520"/>
          </a:xfrm>
          <a:prstGeom prst="rect">
            <a:avLst/>
          </a:prstGeom>
          <a:solidFill>
            <a:srgbClr val="5B9BD5">
              <a:alpha val="12000"/>
            </a:srgbClr>
          </a:solidFill>
          <a:ln/>
        </p:spPr>
      </p:sp>
      <p:sp>
        <p:nvSpPr>
          <p:cNvPr id="18" name="Shape 16"/>
          <p:cNvSpPr/>
          <p:nvPr/>
        </p:nvSpPr>
        <p:spPr>
          <a:xfrm>
            <a:off x="2148840" y="5303520"/>
            <a:ext cx="640080" cy="1554480"/>
          </a:xfrm>
          <a:prstGeom prst="rect">
            <a:avLst/>
          </a:prstGeom>
          <a:solidFill>
            <a:srgbClr val="5B9BD5">
              <a:alpha val="12000"/>
            </a:srgbClr>
          </a:solidFill>
          <a:ln/>
        </p:spPr>
      </p:sp>
      <p:sp>
        <p:nvSpPr>
          <p:cNvPr id="19" name="Shape 17"/>
          <p:cNvSpPr/>
          <p:nvPr/>
        </p:nvSpPr>
        <p:spPr>
          <a:xfrm>
            <a:off x="2743200" y="5852160"/>
            <a:ext cx="822960" cy="1005840"/>
          </a:xfrm>
          <a:prstGeom prst="rect">
            <a:avLst/>
          </a:prstGeom>
          <a:solidFill>
            <a:srgbClr val="5B9BD5">
              <a:alpha val="12000"/>
            </a:srgbClr>
          </a:solidFill>
          <a:ln/>
        </p:spPr>
      </p:sp>
      <p:sp>
        <p:nvSpPr>
          <p:cNvPr id="20" name="Shape 18"/>
          <p:cNvSpPr/>
          <p:nvPr/>
        </p:nvSpPr>
        <p:spPr>
          <a:xfrm>
            <a:off x="3520440" y="5577840"/>
            <a:ext cx="548640" cy="1280160"/>
          </a:xfrm>
          <a:prstGeom prst="rect">
            <a:avLst/>
          </a:prstGeom>
          <a:solidFill>
            <a:srgbClr val="5B9BD5">
              <a:alpha val="12000"/>
            </a:srgbClr>
          </a:solidFill>
          <a:ln/>
        </p:spPr>
      </p:sp>
      <p:sp>
        <p:nvSpPr>
          <p:cNvPr id="21" name="Text 19"/>
          <p:cNvSpPr/>
          <p:nvPr/>
        </p:nvSpPr>
        <p:spPr>
          <a:xfrm>
            <a:off x="640080" y="502920"/>
            <a:ext cx="5486400" cy="274320"/>
          </a:xfrm>
          <a:prstGeom prst="rect">
            <a:avLst/>
          </a:prstGeom>
          <a:noFill/>
          <a:ln/>
        </p:spPr>
        <p:txBody>
          <a:bodyPr wrap="square" lIns="0" tIns="0" rIns="0" bIns="0" rtlCol="0" anchor="ctr"/>
          <a:lstStyle/>
          <a:p>
            <a:pPr marL="0" indent="0">
              <a:buNone/>
            </a:pPr>
            <a:r>
              <a:rPr lang="en-US" sz="1250" b="1" kern="0" spc="200" dirty="0">
                <a:solidFill>
                  <a:srgbClr val="AFD0EF"/>
                </a:solidFill>
                <a:latin typeface="Calibri" pitchFamily="34" charset="0"/>
                <a:ea typeface="Calibri" pitchFamily="34" charset="-122"/>
                <a:cs typeface="Calibri" pitchFamily="34" charset="-120"/>
              </a:rPr>
              <a:t>WRAPPING UP</a:t>
            </a:r>
            <a:endParaRPr lang="en-US" sz="1250" dirty="0"/>
          </a:p>
        </p:txBody>
      </p:sp>
      <p:sp>
        <p:nvSpPr>
          <p:cNvPr id="22" name="Text 20"/>
          <p:cNvSpPr/>
          <p:nvPr/>
        </p:nvSpPr>
        <p:spPr>
          <a:xfrm>
            <a:off x="594360" y="731520"/>
            <a:ext cx="73152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23" name="Shape 21"/>
          <p:cNvSpPr/>
          <p:nvPr/>
        </p:nvSpPr>
        <p:spPr>
          <a:xfrm>
            <a:off x="640080" y="1691640"/>
            <a:ext cx="502920" cy="502920"/>
          </a:xfrm>
          <a:prstGeom prst="ellipse">
            <a:avLst/>
          </a:prstGeom>
          <a:solidFill>
            <a:srgbClr val="1E3A6B"/>
          </a:solidFill>
          <a:ln/>
        </p:spPr>
      </p:sp>
      <p:pic>
        <p:nvPicPr>
          <p:cNvPr id="24" name="Image 0" descr="/home/claude/ppt/icons/check_white.png"/>
          <p:cNvPicPr>
            <a:picLocks noChangeAspect="1"/>
          </p:cNvPicPr>
          <p:nvPr/>
        </p:nvPicPr>
        <p:blipFill>
          <a:blip r:embed="rId3"/>
          <a:stretch>
            <a:fillRect/>
          </a:stretch>
        </p:blipFill>
        <p:spPr>
          <a:xfrm>
            <a:off x="758952" y="1810512"/>
            <a:ext cx="265176" cy="265176"/>
          </a:xfrm>
          <a:prstGeom prst="rect">
            <a:avLst/>
          </a:prstGeom>
        </p:spPr>
      </p:pic>
      <p:sp>
        <p:nvSpPr>
          <p:cNvPr id="25" name="Text 22"/>
          <p:cNvSpPr/>
          <p:nvPr/>
        </p:nvSpPr>
        <p:spPr>
          <a:xfrm>
            <a:off x="1371600" y="1673352"/>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Objective achieved</a:t>
            </a:r>
            <a:endParaRPr lang="en-US" sz="1450" dirty="0"/>
          </a:p>
        </p:txBody>
      </p:sp>
      <p:sp>
        <p:nvSpPr>
          <p:cNvPr id="26" name="Text 23"/>
          <p:cNvSpPr/>
          <p:nvPr/>
        </p:nvSpPr>
        <p:spPr>
          <a:xfrm>
            <a:off x="1371600" y="1984248"/>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Built an end-to-end regression pipeline that predicts median house value from housing features.</a:t>
            </a:r>
            <a:endParaRPr lang="en-US" sz="1150" dirty="0"/>
          </a:p>
        </p:txBody>
      </p:sp>
      <p:sp>
        <p:nvSpPr>
          <p:cNvPr id="27" name="Shape 24"/>
          <p:cNvSpPr/>
          <p:nvPr/>
        </p:nvSpPr>
        <p:spPr>
          <a:xfrm>
            <a:off x="640080" y="2715768"/>
            <a:ext cx="502920" cy="502920"/>
          </a:xfrm>
          <a:prstGeom prst="ellipse">
            <a:avLst/>
          </a:prstGeom>
          <a:solidFill>
            <a:srgbClr val="1E3A6B"/>
          </a:solidFill>
          <a:ln/>
        </p:spPr>
      </p:sp>
      <p:pic>
        <p:nvPicPr>
          <p:cNvPr id="28" name="Image 1" descr="/home/claude/ppt/icons/random_white.png"/>
          <p:cNvPicPr>
            <a:picLocks noChangeAspect="1"/>
          </p:cNvPicPr>
          <p:nvPr/>
        </p:nvPicPr>
        <p:blipFill>
          <a:blip r:embed="rId4"/>
          <a:stretch>
            <a:fillRect/>
          </a:stretch>
        </p:blipFill>
        <p:spPr>
          <a:xfrm>
            <a:off x="758952" y="2834640"/>
            <a:ext cx="265176" cy="265176"/>
          </a:xfrm>
          <a:prstGeom prst="rect">
            <a:avLst/>
          </a:prstGeom>
        </p:spPr>
      </p:pic>
      <p:sp>
        <p:nvSpPr>
          <p:cNvPr id="29" name="Text 25"/>
          <p:cNvSpPr/>
          <p:nvPr/>
        </p:nvSpPr>
        <p:spPr>
          <a:xfrm>
            <a:off x="1371600" y="2697480"/>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Workflow followed</a:t>
            </a:r>
            <a:endParaRPr lang="en-US" sz="1450" dirty="0"/>
          </a:p>
        </p:txBody>
      </p:sp>
      <p:sp>
        <p:nvSpPr>
          <p:cNvPr id="30" name="Text 26"/>
          <p:cNvSpPr/>
          <p:nvPr/>
        </p:nvSpPr>
        <p:spPr>
          <a:xfrm>
            <a:off x="1371600" y="3008376"/>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Data cleaning → EDA → leakage-safe preprocessing → model training → evaluation.</a:t>
            </a:r>
            <a:endParaRPr lang="en-US" sz="1150" dirty="0"/>
          </a:p>
        </p:txBody>
      </p:sp>
      <p:sp>
        <p:nvSpPr>
          <p:cNvPr id="31" name="Shape 27"/>
          <p:cNvSpPr/>
          <p:nvPr/>
        </p:nvSpPr>
        <p:spPr>
          <a:xfrm>
            <a:off x="640080" y="3739896"/>
            <a:ext cx="502920" cy="502920"/>
          </a:xfrm>
          <a:prstGeom prst="ellipse">
            <a:avLst/>
          </a:prstGeom>
          <a:solidFill>
            <a:srgbClr val="1E3A6B"/>
          </a:solidFill>
          <a:ln/>
        </p:spPr>
      </p:sp>
      <p:pic>
        <p:nvPicPr>
          <p:cNvPr id="32" name="Image 2" descr="/home/claude/ppt/icons/chart_bar_navy.png"/>
          <p:cNvPicPr>
            <a:picLocks noChangeAspect="1"/>
          </p:cNvPicPr>
          <p:nvPr/>
        </p:nvPicPr>
        <p:blipFill>
          <a:blip r:embed="rId5"/>
          <a:stretch>
            <a:fillRect/>
          </a:stretch>
        </p:blipFill>
        <p:spPr>
          <a:xfrm>
            <a:off x="758952" y="3858768"/>
            <a:ext cx="265176" cy="265176"/>
          </a:xfrm>
          <a:prstGeom prst="rect">
            <a:avLst/>
          </a:prstGeom>
        </p:spPr>
      </p:pic>
      <p:sp>
        <p:nvSpPr>
          <p:cNvPr id="33" name="Text 28"/>
          <p:cNvSpPr/>
          <p:nvPr/>
        </p:nvSpPr>
        <p:spPr>
          <a:xfrm>
            <a:off x="1371600" y="3721608"/>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Model performance</a:t>
            </a:r>
            <a:endParaRPr lang="en-US" sz="1450" dirty="0"/>
          </a:p>
        </p:txBody>
      </p:sp>
      <p:sp>
        <p:nvSpPr>
          <p:cNvPr id="34" name="Text 29"/>
          <p:cNvSpPr/>
          <p:nvPr/>
        </p:nvSpPr>
        <p:spPr>
          <a:xfrm>
            <a:off x="1371600" y="4032504"/>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XGBoost and Random Forest reached R² ≈ 0.82 on unseen data, far ahead of the 0.625 linear baseline.</a:t>
            </a:r>
            <a:endParaRPr lang="en-US" sz="1150" dirty="0"/>
          </a:p>
        </p:txBody>
      </p:sp>
      <p:sp>
        <p:nvSpPr>
          <p:cNvPr id="35" name="Shape 30"/>
          <p:cNvSpPr/>
          <p:nvPr/>
        </p:nvSpPr>
        <p:spPr>
          <a:xfrm>
            <a:off x="640080" y="4764024"/>
            <a:ext cx="502920" cy="502920"/>
          </a:xfrm>
          <a:prstGeom prst="ellipse">
            <a:avLst/>
          </a:prstGeom>
          <a:solidFill>
            <a:srgbClr val="1E3A6B"/>
          </a:solidFill>
          <a:ln/>
        </p:spPr>
      </p:sp>
      <p:pic>
        <p:nvPicPr>
          <p:cNvPr id="36" name="Image 3" descr="/home/claude/ppt/icons/grad_white.png"/>
          <p:cNvPicPr>
            <a:picLocks noChangeAspect="1"/>
          </p:cNvPicPr>
          <p:nvPr/>
        </p:nvPicPr>
        <p:blipFill>
          <a:blip r:embed="rId6"/>
          <a:stretch>
            <a:fillRect/>
          </a:stretch>
        </p:blipFill>
        <p:spPr>
          <a:xfrm>
            <a:off x="758952" y="4882896"/>
            <a:ext cx="265176" cy="265176"/>
          </a:xfrm>
          <a:prstGeom prst="rect">
            <a:avLst/>
          </a:prstGeom>
        </p:spPr>
      </p:pic>
      <p:sp>
        <p:nvSpPr>
          <p:cNvPr id="37" name="Text 31"/>
          <p:cNvSpPr/>
          <p:nvPr/>
        </p:nvSpPr>
        <p:spPr>
          <a:xfrm>
            <a:off x="1371600" y="4745736"/>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Learning outcomes</a:t>
            </a:r>
            <a:endParaRPr lang="en-US" sz="1450" dirty="0"/>
          </a:p>
        </p:txBody>
      </p:sp>
      <p:sp>
        <p:nvSpPr>
          <p:cNvPr id="38" name="Text 32"/>
          <p:cNvSpPr/>
          <p:nvPr/>
        </p:nvSpPr>
        <p:spPr>
          <a:xfrm>
            <a:off x="1371600" y="5056632"/>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Hands-on experience with sklearn pipelines, ensemble models, and honest train/test evaluation.</a:t>
            </a:r>
            <a:endParaRPr lang="en-US" sz="1150" dirty="0"/>
          </a:p>
        </p:txBody>
      </p:sp>
      <p:sp>
        <p:nvSpPr>
          <p:cNvPr id="39" name="Text 33"/>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AFD0EF"/>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40" name="Shape 34"/>
          <p:cNvSpPr/>
          <p:nvPr/>
        </p:nvSpPr>
        <p:spPr>
          <a:xfrm>
            <a:off x="11503152" y="6172200"/>
            <a:ext cx="384048" cy="384048"/>
          </a:xfrm>
          <a:prstGeom prst="ellipse">
            <a:avLst/>
          </a:prstGeom>
          <a:solidFill>
            <a:srgbClr val="FFFFFF">
              <a:alpha val="15000"/>
            </a:srgbClr>
          </a:solidFill>
          <a:ln/>
        </p:spPr>
      </p:sp>
      <p:sp>
        <p:nvSpPr>
          <p:cNvPr id="41" name="Text 35"/>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2700">
            <a:solidFill>
              <a:srgbClr val="5B9BD5">
                <a:alpha val="45000"/>
              </a:srgbClr>
            </a:solidFill>
            <a:prstDash val="solid"/>
          </a:ln>
        </p:spPr>
      </p:sp>
      <p:sp>
        <p:nvSpPr>
          <p:cNvPr id="3" name="Shape 1"/>
          <p:cNvSpPr/>
          <p:nvPr/>
        </p:nvSpPr>
        <p:spPr>
          <a:xfrm flipV="1">
            <a:off x="9966960" y="1371600"/>
            <a:ext cx="640080" cy="365760"/>
          </a:xfrm>
          <a:prstGeom prst="line">
            <a:avLst/>
          </a:prstGeom>
          <a:noFill/>
          <a:ln w="12700">
            <a:solidFill>
              <a:srgbClr val="5B9BD5">
                <a:alpha val="45000"/>
              </a:srgbClr>
            </a:solidFill>
            <a:prstDash val="solid"/>
          </a:ln>
        </p:spPr>
      </p:sp>
      <p:sp>
        <p:nvSpPr>
          <p:cNvPr id="4" name="Shape 2"/>
          <p:cNvSpPr/>
          <p:nvPr/>
        </p:nvSpPr>
        <p:spPr>
          <a:xfrm>
            <a:off x="9692640" y="822960"/>
            <a:ext cx="1463040" cy="91440"/>
          </a:xfrm>
          <a:prstGeom prst="line">
            <a:avLst/>
          </a:prstGeom>
          <a:noFill/>
          <a:ln w="12700">
            <a:solidFill>
              <a:srgbClr val="5B9BD5">
                <a:alpha val="45000"/>
              </a:srgbClr>
            </a:solidFill>
            <a:prstDash val="solid"/>
          </a:ln>
        </p:spPr>
      </p:sp>
      <p:sp>
        <p:nvSpPr>
          <p:cNvPr id="5" name="Shape 3"/>
          <p:cNvSpPr/>
          <p:nvPr/>
        </p:nvSpPr>
        <p:spPr>
          <a:xfrm flipV="1">
            <a:off x="10607040" y="914400"/>
            <a:ext cx="548640" cy="457200"/>
          </a:xfrm>
          <a:prstGeom prst="line">
            <a:avLst/>
          </a:prstGeom>
          <a:noFill/>
          <a:ln w="12700">
            <a:solidFill>
              <a:srgbClr val="5B9BD5">
                <a:alpha val="45000"/>
              </a:srgbClr>
            </a:solidFill>
            <a:prstDash val="solid"/>
          </a:ln>
        </p:spPr>
      </p:sp>
      <p:sp>
        <p:nvSpPr>
          <p:cNvPr id="6" name="Shape 4"/>
          <p:cNvSpPr/>
          <p:nvPr/>
        </p:nvSpPr>
        <p:spPr>
          <a:xfrm flipV="1">
            <a:off x="10424160" y="1371600"/>
            <a:ext cx="182880" cy="822960"/>
          </a:xfrm>
          <a:prstGeom prst="line">
            <a:avLst/>
          </a:prstGeom>
          <a:noFill/>
          <a:ln w="12700">
            <a:solidFill>
              <a:srgbClr val="5B9BD5">
                <a:alpha val="45000"/>
              </a:srgbClr>
            </a:solidFill>
            <a:prstDash val="solid"/>
          </a:ln>
        </p:spPr>
      </p:sp>
      <p:sp>
        <p:nvSpPr>
          <p:cNvPr id="7" name="Shape 5"/>
          <p:cNvSpPr/>
          <p:nvPr/>
        </p:nvSpPr>
        <p:spPr>
          <a:xfrm>
            <a:off x="11155680" y="914400"/>
            <a:ext cx="182880" cy="914400"/>
          </a:xfrm>
          <a:prstGeom prst="line">
            <a:avLst/>
          </a:prstGeom>
          <a:noFill/>
          <a:ln w="12700">
            <a:solidFill>
              <a:srgbClr val="5B9BD5">
                <a:alpha val="45000"/>
              </a:srgbClr>
            </a:solidFill>
            <a:prstDash val="solid"/>
          </a:ln>
        </p:spPr>
      </p:sp>
      <p:sp>
        <p:nvSpPr>
          <p:cNvPr id="8" name="Shape 6"/>
          <p:cNvSpPr/>
          <p:nvPr/>
        </p:nvSpPr>
        <p:spPr>
          <a:xfrm flipV="1">
            <a:off x="10424160" y="1828800"/>
            <a:ext cx="914400" cy="365760"/>
          </a:xfrm>
          <a:prstGeom prst="line">
            <a:avLst/>
          </a:prstGeom>
          <a:noFill/>
          <a:ln w="12700">
            <a:solidFill>
              <a:srgbClr val="5B9BD5">
                <a:alpha val="45000"/>
              </a:srgbClr>
            </a:solidFill>
            <a:prstDash val="solid"/>
          </a:ln>
        </p:spPr>
      </p:sp>
      <p:sp>
        <p:nvSpPr>
          <p:cNvPr id="9" name="Shape 7"/>
          <p:cNvSpPr/>
          <p:nvPr/>
        </p:nvSpPr>
        <p:spPr>
          <a:xfrm>
            <a:off x="9651492" y="781812"/>
            <a:ext cx="82296" cy="82296"/>
          </a:xfrm>
          <a:prstGeom prst="ellipse">
            <a:avLst/>
          </a:prstGeom>
          <a:solidFill>
            <a:srgbClr val="5B9BD5">
              <a:alpha val="75000"/>
            </a:srgbClr>
          </a:solidFill>
          <a:ln/>
        </p:spPr>
      </p:sp>
      <p:sp>
        <p:nvSpPr>
          <p:cNvPr id="10" name="Shape 8"/>
          <p:cNvSpPr/>
          <p:nvPr/>
        </p:nvSpPr>
        <p:spPr>
          <a:xfrm>
            <a:off x="10565892" y="1330452"/>
            <a:ext cx="82296" cy="82296"/>
          </a:xfrm>
          <a:prstGeom prst="ellipse">
            <a:avLst/>
          </a:prstGeom>
          <a:solidFill>
            <a:srgbClr val="5B9BD5">
              <a:alpha val="75000"/>
            </a:srgbClr>
          </a:solidFill>
          <a:ln/>
        </p:spPr>
      </p:sp>
      <p:sp>
        <p:nvSpPr>
          <p:cNvPr id="11" name="Shape 9"/>
          <p:cNvSpPr/>
          <p:nvPr/>
        </p:nvSpPr>
        <p:spPr>
          <a:xfrm>
            <a:off x="9925812" y="1696212"/>
            <a:ext cx="82296" cy="82296"/>
          </a:xfrm>
          <a:prstGeom prst="ellipse">
            <a:avLst/>
          </a:prstGeom>
          <a:solidFill>
            <a:srgbClr val="5B9BD5">
              <a:alpha val="75000"/>
            </a:srgbClr>
          </a:solidFill>
          <a:ln/>
        </p:spPr>
      </p:sp>
      <p:sp>
        <p:nvSpPr>
          <p:cNvPr id="12" name="Shape 10"/>
          <p:cNvSpPr/>
          <p:nvPr/>
        </p:nvSpPr>
        <p:spPr>
          <a:xfrm>
            <a:off x="11114532" y="873252"/>
            <a:ext cx="82296" cy="82296"/>
          </a:xfrm>
          <a:prstGeom prst="ellipse">
            <a:avLst/>
          </a:prstGeom>
          <a:solidFill>
            <a:srgbClr val="5B9BD5">
              <a:alpha val="75000"/>
            </a:srgbClr>
          </a:solidFill>
          <a:ln/>
        </p:spPr>
      </p:sp>
      <p:sp>
        <p:nvSpPr>
          <p:cNvPr id="13" name="Shape 11"/>
          <p:cNvSpPr/>
          <p:nvPr/>
        </p:nvSpPr>
        <p:spPr>
          <a:xfrm>
            <a:off x="10383012" y="2153412"/>
            <a:ext cx="82296" cy="82296"/>
          </a:xfrm>
          <a:prstGeom prst="ellipse">
            <a:avLst/>
          </a:prstGeom>
          <a:solidFill>
            <a:srgbClr val="5B9BD5">
              <a:alpha val="75000"/>
            </a:srgbClr>
          </a:solidFill>
          <a:ln/>
        </p:spPr>
      </p:sp>
      <p:sp>
        <p:nvSpPr>
          <p:cNvPr id="14" name="Shape 12"/>
          <p:cNvSpPr/>
          <p:nvPr/>
        </p:nvSpPr>
        <p:spPr>
          <a:xfrm>
            <a:off x="11297412" y="1787652"/>
            <a:ext cx="82296" cy="82296"/>
          </a:xfrm>
          <a:prstGeom prst="ellipse">
            <a:avLst/>
          </a:prstGeom>
          <a:solidFill>
            <a:srgbClr val="5B9BD5">
              <a:alpha val="75000"/>
            </a:srgbClr>
          </a:solidFill>
          <a:ln/>
        </p:spPr>
      </p:sp>
      <p:sp>
        <p:nvSpPr>
          <p:cNvPr id="15" name="Shape 13"/>
          <p:cNvSpPr/>
          <p:nvPr/>
        </p:nvSpPr>
        <p:spPr>
          <a:xfrm>
            <a:off x="0" y="5943600"/>
            <a:ext cx="822960" cy="914400"/>
          </a:xfrm>
          <a:prstGeom prst="rect">
            <a:avLst/>
          </a:prstGeom>
          <a:solidFill>
            <a:srgbClr val="5B9BD5">
              <a:alpha val="12000"/>
            </a:srgbClr>
          </a:solidFill>
          <a:ln/>
        </p:spPr>
      </p:sp>
      <p:sp>
        <p:nvSpPr>
          <p:cNvPr id="16" name="Shape 14"/>
          <p:cNvSpPr/>
          <p:nvPr/>
        </p:nvSpPr>
        <p:spPr>
          <a:xfrm>
            <a:off x="777240" y="5486400"/>
            <a:ext cx="548640" cy="1371600"/>
          </a:xfrm>
          <a:prstGeom prst="rect">
            <a:avLst/>
          </a:prstGeom>
          <a:solidFill>
            <a:srgbClr val="5B9BD5">
              <a:alpha val="12000"/>
            </a:srgbClr>
          </a:solidFill>
          <a:ln/>
        </p:spPr>
      </p:sp>
      <p:sp>
        <p:nvSpPr>
          <p:cNvPr id="17" name="Shape 15"/>
          <p:cNvSpPr/>
          <p:nvPr/>
        </p:nvSpPr>
        <p:spPr>
          <a:xfrm>
            <a:off x="1280160" y="6126480"/>
            <a:ext cx="914400" cy="731520"/>
          </a:xfrm>
          <a:prstGeom prst="rect">
            <a:avLst/>
          </a:prstGeom>
          <a:solidFill>
            <a:srgbClr val="5B9BD5">
              <a:alpha val="12000"/>
            </a:srgbClr>
          </a:solidFill>
          <a:ln/>
        </p:spPr>
      </p:sp>
      <p:sp>
        <p:nvSpPr>
          <p:cNvPr id="18" name="Shape 16"/>
          <p:cNvSpPr/>
          <p:nvPr/>
        </p:nvSpPr>
        <p:spPr>
          <a:xfrm>
            <a:off x="2148840" y="5303520"/>
            <a:ext cx="640080" cy="1554480"/>
          </a:xfrm>
          <a:prstGeom prst="rect">
            <a:avLst/>
          </a:prstGeom>
          <a:solidFill>
            <a:srgbClr val="5B9BD5">
              <a:alpha val="12000"/>
            </a:srgbClr>
          </a:solidFill>
          <a:ln/>
        </p:spPr>
      </p:sp>
      <p:sp>
        <p:nvSpPr>
          <p:cNvPr id="19" name="Shape 17"/>
          <p:cNvSpPr/>
          <p:nvPr/>
        </p:nvSpPr>
        <p:spPr>
          <a:xfrm>
            <a:off x="2743200" y="5852160"/>
            <a:ext cx="822960" cy="1005840"/>
          </a:xfrm>
          <a:prstGeom prst="rect">
            <a:avLst/>
          </a:prstGeom>
          <a:solidFill>
            <a:srgbClr val="5B9BD5">
              <a:alpha val="12000"/>
            </a:srgbClr>
          </a:solidFill>
          <a:ln/>
        </p:spPr>
      </p:sp>
      <p:sp>
        <p:nvSpPr>
          <p:cNvPr id="20" name="Shape 18"/>
          <p:cNvSpPr/>
          <p:nvPr/>
        </p:nvSpPr>
        <p:spPr>
          <a:xfrm>
            <a:off x="3520440" y="5577840"/>
            <a:ext cx="548640" cy="1280160"/>
          </a:xfrm>
          <a:prstGeom prst="rect">
            <a:avLst/>
          </a:prstGeom>
          <a:solidFill>
            <a:srgbClr val="5B9BD5">
              <a:alpha val="12000"/>
            </a:srgbClr>
          </a:solidFill>
          <a:ln/>
        </p:spPr>
      </p:sp>
      <p:sp>
        <p:nvSpPr>
          <p:cNvPr id="21" name="Text 19"/>
          <p:cNvSpPr/>
          <p:nvPr/>
        </p:nvSpPr>
        <p:spPr>
          <a:xfrm>
            <a:off x="640080" y="457200"/>
            <a:ext cx="5486400" cy="274320"/>
          </a:xfrm>
          <a:prstGeom prst="rect">
            <a:avLst/>
          </a:prstGeom>
          <a:noFill/>
          <a:ln/>
        </p:spPr>
        <p:txBody>
          <a:bodyPr wrap="square" lIns="0" tIns="0" rIns="0" bIns="0" rtlCol="0" anchor="ctr"/>
          <a:lstStyle/>
          <a:p>
            <a:pPr marL="0" indent="0">
              <a:buNone/>
            </a:pPr>
            <a:r>
              <a:rPr lang="en-US" sz="1250" b="1" kern="0" spc="200" dirty="0">
                <a:solidFill>
                  <a:srgbClr val="AFD0EF"/>
                </a:solidFill>
                <a:latin typeface="Calibri" pitchFamily="34" charset="0"/>
                <a:ea typeface="Calibri" pitchFamily="34" charset="-122"/>
                <a:cs typeface="Calibri" pitchFamily="34" charset="-120"/>
              </a:rPr>
              <a:t>WHAT'S NEXT</a:t>
            </a:r>
            <a:endParaRPr lang="en-US" sz="1250" dirty="0"/>
          </a:p>
        </p:txBody>
      </p:sp>
      <p:sp>
        <p:nvSpPr>
          <p:cNvPr id="22" name="Text 20"/>
          <p:cNvSpPr/>
          <p:nvPr/>
        </p:nvSpPr>
        <p:spPr>
          <a:xfrm>
            <a:off x="594360" y="68580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Scope</a:t>
            </a:r>
            <a:endParaRPr lang="en-US" sz="3000" dirty="0"/>
          </a:p>
        </p:txBody>
      </p:sp>
      <p:sp>
        <p:nvSpPr>
          <p:cNvPr id="23" name="Shape 21"/>
          <p:cNvSpPr/>
          <p:nvPr/>
        </p:nvSpPr>
        <p:spPr>
          <a:xfrm>
            <a:off x="640080" y="1600200"/>
            <a:ext cx="420624" cy="420624"/>
          </a:xfrm>
          <a:prstGeom prst="ellipse">
            <a:avLst/>
          </a:prstGeom>
          <a:solidFill>
            <a:srgbClr val="1E3A6B"/>
          </a:solidFill>
          <a:ln/>
        </p:spPr>
      </p:sp>
      <p:pic>
        <p:nvPicPr>
          <p:cNvPr id="24" name="Image 0" descr="/home/claude/ppt/icons/cloud_white.png"/>
          <p:cNvPicPr>
            <a:picLocks noChangeAspect="1"/>
          </p:cNvPicPr>
          <p:nvPr/>
        </p:nvPicPr>
        <p:blipFill>
          <a:blip r:embed="rId3"/>
          <a:stretch>
            <a:fillRect/>
          </a:stretch>
        </p:blipFill>
        <p:spPr>
          <a:xfrm>
            <a:off x="740664" y="1700784"/>
            <a:ext cx="219456" cy="219456"/>
          </a:xfrm>
          <a:prstGeom prst="rect">
            <a:avLst/>
          </a:prstGeom>
        </p:spPr>
      </p:pic>
      <p:sp>
        <p:nvSpPr>
          <p:cNvPr id="25" name="Text 22"/>
          <p:cNvSpPr/>
          <p:nvPr/>
        </p:nvSpPr>
        <p:spPr>
          <a:xfrm>
            <a:off x="1280160" y="1600200"/>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Deploy as a web application for live predictions</a:t>
            </a:r>
            <a:endParaRPr lang="en-US" sz="1250" dirty="0"/>
          </a:p>
        </p:txBody>
      </p:sp>
      <p:sp>
        <p:nvSpPr>
          <p:cNvPr id="26" name="Shape 23"/>
          <p:cNvSpPr/>
          <p:nvPr/>
        </p:nvSpPr>
        <p:spPr>
          <a:xfrm>
            <a:off x="640080" y="2221992"/>
            <a:ext cx="420624" cy="420624"/>
          </a:xfrm>
          <a:prstGeom prst="ellipse">
            <a:avLst/>
          </a:prstGeom>
          <a:solidFill>
            <a:srgbClr val="1E3A6B"/>
          </a:solidFill>
          <a:ln/>
        </p:spPr>
      </p:sp>
      <p:pic>
        <p:nvPicPr>
          <p:cNvPr id="27" name="Image 1" descr="/home/claude/ppt/icons/plug_white.png"/>
          <p:cNvPicPr>
            <a:picLocks noChangeAspect="1"/>
          </p:cNvPicPr>
          <p:nvPr/>
        </p:nvPicPr>
        <p:blipFill>
          <a:blip r:embed="rId4"/>
          <a:stretch>
            <a:fillRect/>
          </a:stretch>
        </p:blipFill>
        <p:spPr>
          <a:xfrm>
            <a:off x="740664" y="2322576"/>
            <a:ext cx="219456" cy="219456"/>
          </a:xfrm>
          <a:prstGeom prst="rect">
            <a:avLst/>
          </a:prstGeom>
        </p:spPr>
      </p:pic>
      <p:sp>
        <p:nvSpPr>
          <p:cNvPr id="28" name="Text 24"/>
          <p:cNvSpPr/>
          <p:nvPr/>
        </p:nvSpPr>
        <p:spPr>
          <a:xfrm>
            <a:off x="1280160" y="2221992"/>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Integrate real-time property listing APIs</a:t>
            </a:r>
            <a:endParaRPr lang="en-US" sz="1250" dirty="0"/>
          </a:p>
        </p:txBody>
      </p:sp>
      <p:sp>
        <p:nvSpPr>
          <p:cNvPr id="29" name="Shape 25"/>
          <p:cNvSpPr/>
          <p:nvPr/>
        </p:nvSpPr>
        <p:spPr>
          <a:xfrm>
            <a:off x="640080" y="2843784"/>
            <a:ext cx="420624" cy="420624"/>
          </a:xfrm>
          <a:prstGeom prst="ellipse">
            <a:avLst/>
          </a:prstGeom>
          <a:solidFill>
            <a:srgbClr val="1E3A6B"/>
          </a:solidFill>
          <a:ln/>
        </p:spPr>
      </p:sp>
      <p:pic>
        <p:nvPicPr>
          <p:cNvPr id="30" name="Image 2" descr="/home/claude/ppt/icons/sliders_white.png"/>
          <p:cNvPicPr>
            <a:picLocks noChangeAspect="1"/>
          </p:cNvPicPr>
          <p:nvPr/>
        </p:nvPicPr>
        <p:blipFill>
          <a:blip r:embed="rId5"/>
          <a:stretch>
            <a:fillRect/>
          </a:stretch>
        </p:blipFill>
        <p:spPr>
          <a:xfrm>
            <a:off x="740664" y="2944368"/>
            <a:ext cx="219456" cy="219456"/>
          </a:xfrm>
          <a:prstGeom prst="rect">
            <a:avLst/>
          </a:prstGeom>
        </p:spPr>
      </p:pic>
      <p:sp>
        <p:nvSpPr>
          <p:cNvPr id="31" name="Text 26"/>
          <p:cNvSpPr/>
          <p:nvPr/>
        </p:nvSpPr>
        <p:spPr>
          <a:xfrm>
            <a:off x="1280160" y="2843784"/>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Hyperparameter tuning (GridSearchCV) for further gains</a:t>
            </a:r>
            <a:endParaRPr lang="en-US" sz="1250" dirty="0"/>
          </a:p>
        </p:txBody>
      </p:sp>
      <p:sp>
        <p:nvSpPr>
          <p:cNvPr id="32" name="Shape 27"/>
          <p:cNvSpPr/>
          <p:nvPr/>
        </p:nvSpPr>
        <p:spPr>
          <a:xfrm>
            <a:off x="640080" y="3465576"/>
            <a:ext cx="420624" cy="420624"/>
          </a:xfrm>
          <a:prstGeom prst="ellipse">
            <a:avLst/>
          </a:prstGeom>
          <a:solidFill>
            <a:srgbClr val="1E3A6B"/>
          </a:solidFill>
          <a:ln/>
        </p:spPr>
      </p:sp>
      <p:pic>
        <p:nvPicPr>
          <p:cNvPr id="33" name="Image 3" descr="/home/claude/ppt/icons/expand_white.png"/>
          <p:cNvPicPr>
            <a:picLocks noChangeAspect="1"/>
          </p:cNvPicPr>
          <p:nvPr/>
        </p:nvPicPr>
        <p:blipFill>
          <a:blip r:embed="rId6"/>
          <a:stretch>
            <a:fillRect/>
          </a:stretch>
        </p:blipFill>
        <p:spPr>
          <a:xfrm>
            <a:off x="740664" y="3566160"/>
            <a:ext cx="219456" cy="219456"/>
          </a:xfrm>
          <a:prstGeom prst="rect">
            <a:avLst/>
          </a:prstGeom>
        </p:spPr>
      </p:pic>
      <p:sp>
        <p:nvSpPr>
          <p:cNvPr id="34" name="Text 28"/>
          <p:cNvSpPr/>
          <p:nvPr/>
        </p:nvSpPr>
        <p:spPr>
          <a:xfrm>
            <a:off x="1280160" y="3465576"/>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Train on a larger, more geographically diverse dataset</a:t>
            </a:r>
            <a:endParaRPr lang="en-US" sz="1250" dirty="0"/>
          </a:p>
        </p:txBody>
      </p:sp>
      <p:sp>
        <p:nvSpPr>
          <p:cNvPr id="35" name="Shape 29"/>
          <p:cNvSpPr/>
          <p:nvPr/>
        </p:nvSpPr>
        <p:spPr>
          <a:xfrm>
            <a:off x="640080" y="4087368"/>
            <a:ext cx="420624" cy="420624"/>
          </a:xfrm>
          <a:prstGeom prst="ellipse">
            <a:avLst/>
          </a:prstGeom>
          <a:solidFill>
            <a:srgbClr val="1E3A6B"/>
          </a:solidFill>
          <a:ln/>
        </p:spPr>
      </p:sp>
      <p:pic>
        <p:nvPicPr>
          <p:cNvPr id="36" name="Image 4" descr="/home/claude/ppt/icons/chart_pie_white.png"/>
          <p:cNvPicPr>
            <a:picLocks noChangeAspect="1"/>
          </p:cNvPicPr>
          <p:nvPr/>
        </p:nvPicPr>
        <p:blipFill>
          <a:blip r:embed="rId7"/>
          <a:stretch>
            <a:fillRect/>
          </a:stretch>
        </p:blipFill>
        <p:spPr>
          <a:xfrm>
            <a:off x="740664" y="4187952"/>
            <a:ext cx="219456" cy="219456"/>
          </a:xfrm>
          <a:prstGeom prst="rect">
            <a:avLst/>
          </a:prstGeom>
        </p:spPr>
      </p:pic>
      <p:sp>
        <p:nvSpPr>
          <p:cNvPr id="37" name="Text 30"/>
          <p:cNvSpPr/>
          <p:nvPr/>
        </p:nvSpPr>
        <p:spPr>
          <a:xfrm>
            <a:off x="1280160" y="4087368"/>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Add interactive dashboards with cloud deployment</a:t>
            </a:r>
            <a:endParaRPr lang="en-US" sz="1250" dirty="0"/>
          </a:p>
        </p:txBody>
      </p:sp>
      <p:sp>
        <p:nvSpPr>
          <p:cNvPr id="38" name="Shape 31"/>
          <p:cNvSpPr/>
          <p:nvPr/>
        </p:nvSpPr>
        <p:spPr>
          <a:xfrm>
            <a:off x="6949440" y="1600200"/>
            <a:ext cx="4663440" cy="4434840"/>
          </a:xfrm>
          <a:prstGeom prst="roundRect">
            <a:avLst>
              <a:gd name="adj" fmla="val 2887"/>
            </a:avLst>
          </a:prstGeom>
          <a:solidFill>
            <a:srgbClr val="1E3A6B"/>
          </a:solidFill>
          <a:ln/>
          <a:effectLst>
            <a:outerShdw blurRad="101600" dist="38100" dir="2700000" algn="bl" rotWithShape="0">
              <a:srgbClr val="0C1D3D">
                <a:alpha val="12000"/>
              </a:srgbClr>
            </a:outerShdw>
          </a:effectLst>
        </p:spPr>
      </p:sp>
      <p:sp>
        <p:nvSpPr>
          <p:cNvPr id="39" name="Shape 32"/>
          <p:cNvSpPr/>
          <p:nvPr/>
        </p:nvSpPr>
        <p:spPr>
          <a:xfrm>
            <a:off x="8778240" y="2103120"/>
            <a:ext cx="1005840" cy="1005840"/>
          </a:xfrm>
          <a:prstGeom prst="ellipse">
            <a:avLst/>
          </a:prstGeom>
          <a:solidFill>
            <a:srgbClr val="132A52"/>
          </a:solidFill>
          <a:ln/>
        </p:spPr>
      </p:sp>
      <p:pic>
        <p:nvPicPr>
          <p:cNvPr id="40" name="Image 5" descr="/home/claude/ppt/icons/question_white.png"/>
          <p:cNvPicPr>
            <a:picLocks noChangeAspect="1"/>
          </p:cNvPicPr>
          <p:nvPr/>
        </p:nvPicPr>
        <p:blipFill>
          <a:blip r:embed="rId8"/>
          <a:stretch>
            <a:fillRect/>
          </a:stretch>
        </p:blipFill>
        <p:spPr>
          <a:xfrm>
            <a:off x="8997696" y="2322576"/>
            <a:ext cx="566928" cy="566928"/>
          </a:xfrm>
          <a:prstGeom prst="rect">
            <a:avLst/>
          </a:prstGeom>
        </p:spPr>
      </p:pic>
      <p:sp>
        <p:nvSpPr>
          <p:cNvPr id="41" name="Text 33"/>
          <p:cNvSpPr/>
          <p:nvPr/>
        </p:nvSpPr>
        <p:spPr>
          <a:xfrm>
            <a:off x="7178040" y="3383280"/>
            <a:ext cx="420624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42" name="Text 34"/>
          <p:cNvSpPr/>
          <p:nvPr/>
        </p:nvSpPr>
        <p:spPr>
          <a:xfrm>
            <a:off x="7178040" y="3977640"/>
            <a:ext cx="4206240" cy="457200"/>
          </a:xfrm>
          <a:prstGeom prst="rect">
            <a:avLst/>
          </a:prstGeom>
          <a:noFill/>
          <a:ln/>
        </p:spPr>
        <p:txBody>
          <a:bodyPr wrap="square" lIns="0" tIns="0" rIns="0" bIns="0" rtlCol="0" anchor="ctr"/>
          <a:lstStyle/>
          <a:p>
            <a:pPr marL="0" indent="0" algn="ctr">
              <a:buNone/>
            </a:pPr>
            <a:r>
              <a:rPr lang="en-US" sz="1700" i="1" dirty="0">
                <a:solidFill>
                  <a:srgbClr val="AFD0EF"/>
                </a:solidFill>
                <a:latin typeface="Calibri" pitchFamily="34" charset="0"/>
                <a:ea typeface="Calibri" pitchFamily="34" charset="-122"/>
                <a:cs typeface="Calibri" pitchFamily="34" charset="-120"/>
              </a:rPr>
              <a:t>Questions?</a:t>
            </a:r>
            <a:endParaRPr lang="en-US" sz="1700" dirty="0"/>
          </a:p>
        </p:txBody>
      </p:sp>
      <p:sp>
        <p:nvSpPr>
          <p:cNvPr id="43" name="Text 35"/>
          <p:cNvSpPr/>
          <p:nvPr/>
        </p:nvSpPr>
        <p:spPr>
          <a:xfrm>
            <a:off x="7178040" y="5120640"/>
            <a:ext cx="4206240" cy="640080"/>
          </a:xfrm>
          <a:prstGeom prst="rect">
            <a:avLst/>
          </a:prstGeom>
          <a:noFill/>
          <a:ln/>
        </p:spPr>
        <p:txBody>
          <a:bodyPr wrap="square" lIns="0" tIns="0" rIns="0" bIns="0" rtlCol="0" anchor="ctr"/>
          <a:lstStyle/>
          <a:p>
            <a:pPr marL="0" indent="0" algn="ctr">
              <a:buNone/>
            </a:pPr>
            <a:r>
              <a:rPr lang="en-US" sz="1050" dirty="0">
                <a:solidFill>
                  <a:srgbClr val="AFD0EF"/>
                </a:solidFill>
                <a:latin typeface="Calibri" pitchFamily="34" charset="0"/>
                <a:ea typeface="Calibri" pitchFamily="34" charset="-122"/>
                <a:cs typeface="Calibri" pitchFamily="34" charset="-120"/>
              </a:rPr>
              <a:t>House Price Prediction System</a:t>
            </a:r>
            <a:endParaRPr lang="en-US" sz="1050" dirty="0"/>
          </a:p>
          <a:p>
            <a:pPr marL="0" indent="0" algn="ctr">
              <a:buNone/>
            </a:pPr>
            <a:r>
              <a:rPr lang="en-US" sz="1050" dirty="0">
                <a:solidFill>
                  <a:srgbClr val="AFD0EF"/>
                </a:solidFill>
                <a:latin typeface="Calibri" pitchFamily="34" charset="0"/>
                <a:ea typeface="Calibri" pitchFamily="34" charset="-122"/>
                <a:cs typeface="Calibri" pitchFamily="34" charset="-120"/>
              </a:rPr>
              <a:t>Summer Internship Final Evaluation</a:t>
            </a:r>
            <a:endParaRPr lang="en-US" sz="1050" dirty="0"/>
          </a:p>
        </p:txBody>
      </p:sp>
      <p:sp>
        <p:nvSpPr>
          <p:cNvPr id="44" name="Shape 36"/>
          <p:cNvSpPr/>
          <p:nvPr/>
        </p:nvSpPr>
        <p:spPr>
          <a:xfrm>
            <a:off x="11503152" y="6172200"/>
            <a:ext cx="384048" cy="384048"/>
          </a:xfrm>
          <a:prstGeom prst="ellipse">
            <a:avLst/>
          </a:prstGeom>
          <a:solidFill>
            <a:srgbClr val="FFFFFF">
              <a:alpha val="15000"/>
            </a:srgbClr>
          </a:solidFill>
          <a:ln/>
        </p:spPr>
      </p:sp>
      <p:sp>
        <p:nvSpPr>
          <p:cNvPr id="45" name="Text 37"/>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1538</Words>
  <Application>Microsoft Office PowerPoint</Application>
  <PresentationFormat>Widescreen</PresentationFormat>
  <Paragraphs>283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 Prediction System</dc:title>
  <dc:subject>PptxGenJS Presentation</dc:subject>
  <dc:creator>Sudhanshu</dc:creator>
  <cp:lastModifiedBy>Uplakshya Tiwari</cp:lastModifiedBy>
  <cp:revision>2</cp:revision>
  <dcterms:created xsi:type="dcterms:W3CDTF">2026-07-04T02:17:01Z</dcterms:created>
  <dcterms:modified xsi:type="dcterms:W3CDTF">2026-07-04T03:54:12Z</dcterms:modified>
</cp:coreProperties>
</file>